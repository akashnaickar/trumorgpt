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800" b="1">
                <a:solidFill>
                  <a:srgbClr val="1F1F1F"/>
                </a:solidFill>
                <a:latin typeface="Calibri"/>
              </a:defRPr>
            </a:pPr>
            <a:r>
              <a:t>TrumorGPT: A Graph-Based Retrieval-Augmented LLM for Fact-Checking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F1F1F"/>
                </a:solidFill>
                <a:latin typeface="Calibri"/>
              </a:defRPr>
            </a:pPr>
            <a:r>
              <a:t>Capstone Project - Lab Evaluations 1 and 2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Presented by: Akash KG</a:t>
            </a:r>
          </a:p>
          <a:p>
            <a:pPr>
              <a:spcAft>
                <a:spcPts val="6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1F1F"/>
                </a:solidFill>
                <a:latin typeface="Calibri"/>
              </a:defRPr>
            </a:pPr>
            <a:r>
              <a:t>Base paper:</a:t>
            </a: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C. N. Hang, P.-D. Yu, and C. W. Tan, "TrumorGPT: Graph-Based Retrieval-Augmented Large Language Model for Fact-Checking," IEEE Transactions on Artificial Intelligence, vol. 6, no. 11, pp. 3148-3162, Nov. 2025.</a:t>
            </a: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DOI: 10.1109/TAI.2025.3567369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Selection of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Health misinformation</a:t>
            </a:r>
            <a:r>
              <a:rPr sz="1900" b="0">
                <a:solidFill>
                  <a:srgbClr val="000000"/>
                </a:solidFill>
                <a:latin typeface="Calibri"/>
              </a:rPr>
              <a:t> is a large-scale, real problem that harms public health decisions.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0">
                <a:solidFill>
                  <a:srgbClr val="000000"/>
                </a:solidFill>
                <a:latin typeface="Calibri"/>
              </a:rPr>
              <a:t>The </a:t>
            </a:r>
            <a:r>
              <a:rPr sz="1900" b="1">
                <a:solidFill>
                  <a:srgbClr val="000000"/>
                </a:solidFill>
                <a:latin typeface="Calibri"/>
              </a:rPr>
              <a:t>WHO</a:t>
            </a:r>
            <a:r>
              <a:rPr sz="1900" b="0">
                <a:solidFill>
                  <a:srgbClr val="000000"/>
                </a:solidFill>
                <a:latin typeface="Calibri"/>
              </a:rPr>
              <a:t> declared COVID-19 the first global </a:t>
            </a:r>
            <a:r>
              <a:rPr sz="1900" b="1">
                <a:solidFill>
                  <a:srgbClr val="000000"/>
                </a:solidFill>
                <a:latin typeface="Calibri"/>
              </a:rPr>
              <a:t>infodemic</a:t>
            </a:r>
            <a:r>
              <a:rPr sz="1900" b="0">
                <a:solidFill>
                  <a:srgbClr val="000000"/>
                </a:solidFill>
                <a:latin typeface="Calibri"/>
              </a:rPr>
              <a:t> (2020).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0">
                <a:solidFill>
                  <a:srgbClr val="000000"/>
                </a:solidFill>
                <a:latin typeface="Calibri"/>
              </a:rPr>
              <a:t>False news spreads faster: false tweets reach </a:t>
            </a:r>
            <a:r>
              <a:rPr sz="1900" b="1">
                <a:solidFill>
                  <a:srgbClr val="000000"/>
                </a:solidFill>
                <a:latin typeface="Calibri"/>
              </a:rPr>
              <a:t>1,500 people ~6x faster</a:t>
            </a:r>
            <a:r>
              <a:rPr sz="1900" b="0">
                <a:solidFill>
                  <a:srgbClr val="000000"/>
                </a:solidFill>
                <a:latin typeface="Calibri"/>
              </a:rPr>
              <a:t> than true ones (Vosoughi et al., Science 2018).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3,749 AI content-farm sites</a:t>
            </a:r>
            <a:r>
              <a:rPr sz="1900" b="0">
                <a:solidFill>
                  <a:srgbClr val="000000"/>
                </a:solidFill>
                <a:latin typeface="Calibri"/>
              </a:rPr>
              <a:t> operate across 16 languages; two-thirds of untrustworthy sites publish health misinformation (NewsGuard).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Scope:</a:t>
            </a:r>
            <a:r>
              <a:rPr sz="1900" b="0">
                <a:solidFill>
                  <a:srgbClr val="000000"/>
                </a:solidFill>
                <a:latin typeface="Calibri"/>
              </a:rPr>
              <a:t> health claims only; </a:t>
            </a:r>
            <a:r>
              <a:rPr sz="1900" b="1">
                <a:solidFill>
                  <a:srgbClr val="000000"/>
                </a:solidFill>
                <a:latin typeface="Calibri"/>
              </a:rPr>
              <a:t>feasible</a:t>
            </a:r>
            <a:r>
              <a:rPr sz="1900" b="0">
                <a:solidFill>
                  <a:srgbClr val="000000"/>
                </a:solidFill>
                <a:latin typeface="Calibri"/>
              </a:rPr>
              <a:t> with existing LLMs and knowledge graphs, with no new model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Understanding of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Fact-checking</a:t>
            </a:r>
            <a:r>
              <a:rPr sz="1900" b="0">
                <a:solidFill>
                  <a:srgbClr val="000000"/>
                </a:solidFill>
                <a:latin typeface="Calibri"/>
              </a:rPr>
              <a:t> means verifying whether a claim is accurate.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Manual checking</a:t>
            </a:r>
            <a:r>
              <a:rPr sz="1900" b="0">
                <a:solidFill>
                  <a:srgbClr val="000000"/>
                </a:solidFill>
                <a:latin typeface="Calibri"/>
              </a:rPr>
              <a:t> cannot keep pace with the volume of online claims.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Standard LLMs</a:t>
            </a:r>
            <a:r>
              <a:rPr sz="1900" b="0">
                <a:solidFill>
                  <a:srgbClr val="000000"/>
                </a:solidFill>
                <a:latin typeface="Calibri"/>
              </a:rPr>
              <a:t> hallucinate and rely on static training data.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Knowledge graphs alone</a:t>
            </a:r>
            <a:r>
              <a:rPr sz="1900" b="0">
                <a:solidFill>
                  <a:srgbClr val="000000"/>
                </a:solidFill>
                <a:latin typeface="Calibri"/>
              </a:rPr>
              <a:t> are structured but static and incomplete.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Key insight:</a:t>
            </a:r>
            <a:r>
              <a:rPr sz="1900" b="0">
                <a:solidFill>
                  <a:srgbClr val="000000"/>
                </a:solidFill>
                <a:latin typeface="Calibri"/>
              </a:rPr>
              <a:t> the two are individually flawed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complementary</a:t>
            </a:r>
            <a:r>
              <a:rPr sz="19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Approach:</a:t>
            </a:r>
            <a:r>
              <a:rPr sz="1900" b="0">
                <a:solidFill>
                  <a:srgbClr val="000000"/>
                </a:solidFill>
                <a:latin typeface="Calibri"/>
              </a:rPr>
              <a:t> TrumorGPT combines an LLM with semantic health knowledge graphs via </a:t>
            </a:r>
            <a:r>
              <a:rPr sz="1900" b="1">
                <a:solidFill>
                  <a:srgbClr val="000000"/>
                </a:solidFill>
                <a:latin typeface="Calibri"/>
              </a:rPr>
              <a:t>GraphRAG</a:t>
            </a:r>
            <a:r>
              <a:rPr sz="1900" b="0">
                <a:solidFill>
                  <a:srgbClr val="000000"/>
                </a:solidFill>
                <a:latin typeface="Calibri"/>
              </a:rPr>
              <a:t>; output is True / False / Undetermined.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Datasets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80" cy="2302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2286000"/>
                <a:gridCol w="5029200"/>
                <a:gridCol w="2468880"/>
              </a:tblGrid>
              <a:tr h="5646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Size used here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DBpedia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Knowledge graph from Wikipedia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RDF triples (head, relation, tail); class and property ontology; SPARQL endpoint; auto-updated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 seed KGs (reference base)</a:t>
                      </a:r>
                    </a:p>
                  </a:txBody>
                  <a:tcPr marL="54864" marR="54864" marT="27432" marB="27432" anchor="ctr"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PolitiFact (via LIAR)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Fact-checked US statements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Truth-O-Meter 6-level ratings; claim text, speaker, subject, date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1,434 health rows; 600 test (300/300)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02920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</a:t>
            </a:r>
            <a:r>
              <a:rPr sz="1600" b="1">
                <a:solidFill>
                  <a:srgbClr val="000000"/>
                </a:solidFill>
                <a:latin typeface="Calibri"/>
              </a:rPr>
              <a:t>Binary labels:</a:t>
            </a:r>
            <a:r>
              <a:rPr sz="1600" b="0">
                <a:solidFill>
                  <a:srgbClr val="000000"/>
                </a:solidFill>
                <a:latin typeface="Calibri"/>
              </a:rPr>
              <a:t> True/Mostly True/Half True -&gt; True; False/Barely True/Pants on Fire -&gt; False.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</a:t>
            </a:r>
            <a:r>
              <a:rPr sz="1600" b="1">
                <a:solidFill>
                  <a:srgbClr val="000000"/>
                </a:solidFill>
                <a:latin typeface="Calibri"/>
              </a:rPr>
              <a:t>External test set:</a:t>
            </a:r>
            <a:r>
              <a:rPr sz="1600" b="0">
                <a:solidFill>
                  <a:srgbClr val="000000"/>
                </a:solidFill>
                <a:latin typeface="Calibri"/>
              </a:rPr>
              <a:t> LIAR health-care (PolitiFact-derived), balanced 300 True / 300 False, seed 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Interpretation of the Solution on the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Worked example</a:t>
            </a:r>
            <a:r>
              <a:rPr sz="1800" b="0">
                <a:solidFill>
                  <a:srgbClr val="000000"/>
                </a:solidFill>
                <a:latin typeface="Calibri"/>
              </a:rPr>
              <a:t> - claim: 'Ivermectin is an FDA-approved cure for treating COVID-19.'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0">
                <a:solidFill>
                  <a:srgbClr val="000000"/>
                </a:solidFill>
                <a:latin typeface="Calibri"/>
              </a:rPr>
              <a:t>Extracted query triple: `(Ivermectin, claimed_treatment_for, COVID-19)`.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0">
                <a:solidFill>
                  <a:srgbClr val="000000"/>
                </a:solidFill>
                <a:latin typeface="Calibri"/>
              </a:rPr>
              <a:t>Matched KB triple: `(Ivermectin, failed_clinical_trials_for, COVID-19)` -&gt; </a:t>
            </a:r>
            <a:r>
              <a:rPr sz="1800" b="1">
                <a:solidFill>
                  <a:srgbClr val="000000"/>
                </a:solidFill>
                <a:latin typeface="Calibri"/>
              </a:rPr>
              <a:t>contradiction</a:t>
            </a:r>
            <a:r>
              <a:rPr sz="1800" b="0">
                <a:solidFill>
                  <a:srgbClr val="000000"/>
                </a:solidFill>
                <a:latin typeface="Calibri"/>
              </a:rPr>
              <a:t> -&gt; verdict </a:t>
            </a:r>
            <a:r>
              <a:rPr sz="1800" b="1">
                <a:solidFill>
                  <a:srgbClr val="000000"/>
                </a:solidFill>
                <a:latin typeface="Calibri"/>
              </a:rPr>
              <a:t>False</a:t>
            </a:r>
            <a:r>
              <a:rPr sz="1800" b="0">
                <a:solidFill>
                  <a:srgbClr val="000000"/>
                </a:solidFill>
                <a:latin typeface="Calibri"/>
              </a:rPr>
              <a:t> (score 0.50).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0">
                <a:solidFill>
                  <a:srgbClr val="000000"/>
                </a:solidFill>
                <a:latin typeface="Calibri"/>
              </a:rPr>
              <a:t>Verified positives, e.g. mRNA-vaccine and diet claims, map directly to a KB with score </a:t>
            </a:r>
            <a:r>
              <a:rPr sz="1800" b="1">
                <a:solidFill>
                  <a:srgbClr val="000000"/>
                </a:solidFill>
                <a:latin typeface="Calibri"/>
              </a:rPr>
              <a:t>1.00</a:t>
            </a:r>
            <a:r>
              <a:rPr sz="18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0">
                <a:solidFill>
                  <a:srgbClr val="000000"/>
                </a:solidFill>
                <a:latin typeface="Calibri"/>
              </a:rPr>
              <a:t>Out-of-KB claims (e.g. '2024 budget deficit...') return </a:t>
            </a:r>
            <a:r>
              <a:rPr sz="1800" b="1">
                <a:solidFill>
                  <a:srgbClr val="000000"/>
                </a:solidFill>
                <a:latin typeface="Calibri"/>
              </a:rPr>
              <a:t>Undetermined</a:t>
            </a:r>
            <a:r>
              <a:rPr sz="1800" b="0">
                <a:solidFill>
                  <a:srgbClr val="000000"/>
                </a:solidFill>
                <a:latin typeface="Calibri"/>
              </a:rPr>
              <a:t> - the system abstains rather than guesses.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Reading the metrics:</a:t>
            </a:r>
            <a:r>
              <a:rPr sz="1800" b="0">
                <a:solidFill>
                  <a:srgbClr val="000000"/>
                </a:solidFill>
                <a:latin typeface="Calibri"/>
              </a:rPr>
              <a:t> strict accuracy counts an abstention as wrong; coverage and determined-accuracy separate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Semantic triple (head, relation, tail)</a:t>
            </a:r>
            <a:r>
              <a:rPr sz="1800" b="0">
                <a:solidFill>
                  <a:srgbClr val="000000"/>
                </a:solidFill>
                <a:latin typeface="Calibri"/>
              </a:rPr>
              <a:t> - fact-level features from a claim.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BERT embedding (384-dim)</a:t>
            </a:r>
            <a:r>
              <a:rPr sz="1800" b="0">
                <a:solidFill>
                  <a:srgbClr val="000000"/>
                </a:solidFill>
                <a:latin typeface="Calibri"/>
              </a:rPr>
              <a:t> - semantic meaning of each sentence.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LDA topic distribution</a:t>
            </a:r>
            <a:r>
              <a:rPr sz="1800" b="0">
                <a:solidFill>
                  <a:srgbClr val="000000"/>
                </a:solidFill>
                <a:latin typeface="Calibri"/>
              </a:rPr>
              <a:t> - health-topic context of each sentence.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Topic-enhanced centrality</a:t>
            </a:r>
            <a:r>
              <a:rPr sz="1800" b="0">
                <a:solidFill>
                  <a:srgbClr val="000000"/>
                </a:solidFill>
                <a:latin typeface="Calibri"/>
              </a:rPr>
              <a:t> v = [0.7 * BERT ; 0.3 * LDA] - fuses meaning and topic relevance.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Topic-Specific TextRank score</a:t>
            </a:r>
            <a:r>
              <a:rPr sz="1800" b="0">
                <a:solidFill>
                  <a:srgbClr val="000000"/>
                </a:solidFill>
                <a:latin typeface="Calibri"/>
              </a:rPr>
              <a:t> - sentence importance under a health-topic bias.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Graph similarity</a:t>
            </a:r>
            <a:r>
              <a:rPr sz="1800" b="0">
                <a:solidFill>
                  <a:srgbClr val="000000"/>
                </a:solidFill>
                <a:latin typeface="Calibri"/>
              </a:rPr>
              <a:t> - Jaccard, containment, and contradiction flag.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Evidence:</a:t>
            </a:r>
            <a:r>
              <a:rPr sz="1800" b="0">
                <a:solidFill>
                  <a:srgbClr val="000000"/>
                </a:solidFill>
                <a:latin typeface="Calibri"/>
              </a:rPr>
              <a:t> removing contradiction detection drops component accuracy 91.7% -&gt; 68.8%; Jaccard-only drops it to 77.1%.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Existing Algorithms - 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2608" y="1371600"/>
          <a:ext cx="116128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2743200"/>
                <a:gridCol w="2377440"/>
                <a:gridCol w="2468880"/>
                <a:gridCol w="2560320"/>
              </a:tblGrid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Author and Year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Objective of the Work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Achievements of the Work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Gaps from the Work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Karadzhov et al. (2017)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Fully automated fact checking using external sources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Verify claims automatically using web evidence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Deep LSTM fact-checking framework with semantic kernels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Uses unstructured web sources; no structured knowledge graph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Gad-Elrab et al. (2019)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Tracy: Tracing facts over knowledge graphs and text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Explain fact verification over knowledge graphs and text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Rule-based semantic traces with a user interface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Manual rules; limited graph coverage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Lewis et al. (2020)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Retrieval-augmented generation for knowledge-intensive tasks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Combine retrieval with generation to reduce hallucination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Strong results on knowledge-intensive QA tasks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Retrieves text passages only; no graph reasoning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Vedula &amp; Parthasarathy (2021)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FACE-KEG: Fact checking explained using knowledge graphs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Explainable fact-checking using knowledge graphs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KG-based veracity scores with explanations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Static KG; cannot use the latest health updates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Guo et al. (2022)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survey on automated fact-checking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Review existing automated fact-checking methods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Comprehensive taxonomy of automated fact-checking pipelines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health-specific LLM and GraphRAG integration</a:t>
                      </a:r>
                    </a:p>
                  </a:txBody>
                  <a:tcPr marL="36576" marR="36576" marT="18288" marB="18288" anchor="ctr"/>
                </a:tc>
              </a:tr>
              <a:tr h="783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Edge et al. (2024)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From local to global: A graph RAG approach to query-focused summarization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 knowledge graphs with RAG for global queries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Graph-based summarization over large corpora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Built for summarization, not claim verification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571500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1F1F"/>
                </a:solidFill>
                <a:latin typeface="Calibri"/>
              </a:defRPr>
            </a:pPr>
            <a:r>
              <a:t>Gap: no existing method combines an updatable semantic health knowledge graph with LLM reasoning for health-claim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Learning Technique Identified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Proposed technique: TrumorGPT = GraphRAG + few-shot LLM + Topic-Specific TextRank.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Few-shot LLM</a:t>
            </a:r>
            <a:r>
              <a:rPr sz="1800" b="0">
                <a:solidFill>
                  <a:srgbClr val="000000"/>
                </a:solidFill>
                <a:latin typeface="Calibri"/>
              </a:rPr>
              <a:t> extracts (head, relation, tail) triples and builds the claim knowledge graph.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Topic-Specific TextRank</a:t>
            </a:r>
            <a:r>
              <a:rPr sz="1800" b="0">
                <a:solidFill>
                  <a:srgbClr val="000000"/>
                </a:solidFill>
                <a:latin typeface="Calibri"/>
              </a:rPr>
              <a:t> (alpha = 1.5, damping = 0.85) ranks the key health sentences.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LDA + BERT centrality</a:t>
            </a:r>
            <a:r>
              <a:rPr sz="1800" b="0">
                <a:solidFill>
                  <a:srgbClr val="000000"/>
                </a:solidFill>
                <a:latin typeface="Calibri"/>
              </a:rPr>
              <a:t> selects the informative sentences before graph construction.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GraphRAG</a:t>
            </a:r>
            <a:r>
              <a:rPr sz="1800" b="0">
                <a:solidFill>
                  <a:srgbClr val="000000"/>
                </a:solidFill>
                <a:latin typeface="Calibri"/>
              </a:rPr>
              <a:t> computes S(Gx, Gi) = max(Jaccard, containment), then detects contradictions -&gt; </a:t>
            </a:r>
            <a:r>
              <a:rPr sz="1800" b="1">
                <a:solidFill>
                  <a:srgbClr val="000000"/>
                </a:solidFill>
                <a:latin typeface="Calibri"/>
              </a:rPr>
              <a:t>True / False / Undetermined</a:t>
            </a:r>
            <a:r>
              <a:rPr sz="18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Justification:</a:t>
            </a:r>
            <a:r>
              <a:rPr sz="1800" b="0">
                <a:solidFill>
                  <a:srgbClr val="000000"/>
                </a:solidFill>
                <a:latin typeface="Calibri"/>
              </a:rPr>
              <a:t> grounds the LLM in updatable facts (less hallucination), needs no retraining, and runs on a local LLM.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Our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0515600" cy="3246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0400"/>
                <a:gridCol w="1188720"/>
                <a:gridCol w="1188720"/>
                <a:gridCol w="1554480"/>
                <a:gridCol w="118872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Strict acc.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Determined acc.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TrumorGPT (this repro, Set C component, n=48)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4864" marR="54864" marT="27432" marB="27432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TrumorGPT (this repro, Set A end-to-end, n=600)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n/a (n=1)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27432" marB="27432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TF-IDF + LogReg (baseline, n=600)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0.45</a:t>
                      </a:r>
                    </a:p>
                  </a:txBody>
                  <a:tcPr marL="54864" marR="54864" marT="27432" marB="27432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Majority (all False) (baseline, n=600)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marL="54864" marR="54864" marT="27432" marB="27432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TrumorGPT (paper-reported)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88.1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0749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</a:t>
            </a:r>
            <a:r>
              <a:rPr sz="1400" b="1">
                <a:solidFill>
                  <a:srgbClr val="000000"/>
                </a:solidFill>
                <a:latin typeface="Calibri"/>
              </a:rPr>
              <a:t>Component result:</a:t>
            </a:r>
            <a:r>
              <a:rPr sz="1400" b="0">
                <a:solidFill>
                  <a:srgbClr val="000000"/>
                </a:solidFill>
                <a:latin typeface="Calibri"/>
              </a:rPr>
              <a:t> 100% accuracy on committed verdicts, 91.7% strict (n=48).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</a:t>
            </a:r>
            <a:r>
              <a:rPr sz="1400" b="1">
                <a:solidFill>
                  <a:srgbClr val="000000"/>
                </a:solidFill>
                <a:latin typeface="Calibri"/>
              </a:rPr>
              <a:t>End-to-end:</a:t>
            </a:r>
            <a:r>
              <a:rPr sz="1400" b="0">
                <a:solidFill>
                  <a:srgbClr val="000000"/>
                </a:solidFill>
                <a:latin typeface="Calibri"/>
              </a:rPr>
              <a:t> abstains on 99.8% of real claims because only 8 KGs are shipped; the paper used a large DBpedia KB + GPT-4.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</a:t>
            </a:r>
            <a:r>
              <a:rPr sz="1400" b="1">
                <a:solidFill>
                  <a:srgbClr val="000000"/>
                </a:solidFill>
                <a:latin typeface="Calibri"/>
              </a:rPr>
              <a:t>Paper numbers are paper-reported</a:t>
            </a:r>
            <a:r>
              <a:rPr sz="1400" b="0">
                <a:solidFill>
                  <a:srgbClr val="000000"/>
                </a:solidFill>
                <a:latin typeface="Calibri"/>
              </a:rPr>
              <a:t>, not reproduced here (no GPT-class LLM available).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Ablation and 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430000" cy="3739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4754880"/>
                <a:gridCol w="3566160"/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Ablation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Strict accuracy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Graph similarity measure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max(Jaccard, containment) - full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containment only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Jaccard only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77.1%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Contradiction detection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 (full)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off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68.8%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Match threshold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 / 0.25 / 0.4 / 0.6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 (insensitive)</a:t>
                      </a:r>
                    </a:p>
                  </a:txBody>
                  <a:tcPr marL="54864" marR="54864" marT="27432" marB="27432"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eta (LDA) x alpha (TST)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 combinations (Set A)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coverage 0.0 (no effect)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212080"/>
            <a:ext cx="106984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Contradiction detection is the biggest contributor</a:t>
            </a:r>
            <a:r>
              <a:rPr sz="1300" b="0">
                <a:solidFill>
                  <a:srgbClr val="000000"/>
                </a:solidFill>
                <a:latin typeface="Calibri"/>
              </a:rPr>
              <a:t> (91.7% -&gt; 68.8% when removed).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Set A failures (600/600):</a:t>
            </a:r>
            <a:r>
              <a:rPr sz="1300" b="0">
                <a:solidFill>
                  <a:srgbClr val="000000"/>
                </a:solidFill>
                <a:latin typeface="Calibri"/>
              </a:rPr>
              <a:t> 252 numeric claims, 170 named-entity/geography, 139 KB-coverage gaps, 39 negation.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eta/alpha are flat on Set A</a:t>
            </a:r>
            <a:r>
              <a:rPr sz="1300" b="0">
                <a:solidFill>
                  <a:srgbClr val="000000"/>
                </a:solidFill>
                <a:latin typeface="Calibri"/>
              </a:rPr>
              <a:t> - the bottleneck is KB coverage and triple extraction, not sentence ranking.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KB coverage:</a:t>
            </a:r>
            <a:r>
              <a:rPr sz="1800" b="0">
                <a:solidFill>
                  <a:srgbClr val="000000"/>
                </a:solidFill>
                <a:latin typeface="Calibri"/>
              </a:rPr>
              <a:t> only 8 reference KGs vs the paper's DBpedia-derived health KB.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Extraction:</a:t>
            </a:r>
            <a:r>
              <a:rPr sz="1800" b="0">
                <a:solidFill>
                  <a:srgbClr val="000000"/>
                </a:solidFill>
                <a:latin typeface="Calibri"/>
              </a:rPr>
              <a:t> deterministic rule-based fallback vs GPT-4; the Gemini baseline was blocked by free-tier quota.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Data mismatch:</a:t>
            </a:r>
            <a:r>
              <a:rPr sz="1800" b="0">
                <a:solidFill>
                  <a:srgbClr val="000000"/>
                </a:solidFill>
                <a:latin typeface="Calibri"/>
              </a:rPr>
              <a:t> LIAR (2017, US political) differs from the paper's 2020-24 Health Care + Coronavirus set.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No significance testing</a:t>
            </a:r>
            <a:r>
              <a:rPr sz="1800" b="0">
                <a:solidFill>
                  <a:srgbClr val="000000"/>
                </a:solidFill>
                <a:latin typeface="Calibri"/>
              </a:rPr>
              <a:t> on the paper comparison; results are descriptive.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Future work:</a:t>
            </a:r>
            <a:r>
              <a:rPr sz="1800" b="0">
                <a:solidFill>
                  <a:srgbClr val="000000"/>
                </a:solidFill>
                <a:latin typeface="Calibri"/>
              </a:rPr>
              <a:t> ingest DBpedia health triples, add a stronger LLM extractor, add calibration, and re-freeze the test set before re-evaluation.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Demo / Live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Offline mode</a:t>
            </a:r>
            <a:r>
              <a:rPr sz="1800" b="0">
                <a:solidFill>
                  <a:srgbClr val="000000"/>
                </a:solidFill>
                <a:latin typeface="Calibri"/>
              </a:rPr>
              <a:t> (TRUMORGPT_OFFLINE=1): deterministic, no network or API key required.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Verified examples:</a:t>
            </a:r>
            <a:r>
              <a:rPr sz="1800" b="0">
                <a:solidFill>
                  <a:srgbClr val="000000"/>
                </a:solidFill>
                <a:latin typeface="Calibri"/>
              </a:rPr>
              <a:t> vaccines -&gt; True; ivermectin cure -&gt; False; balanced diet -&gt; True; 'COVID-19 causes cancer' -&gt; False; out-of-KB -&gt; Undetermined.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Artifacts:</a:t>
            </a:r>
            <a:r>
              <a:rPr sz="1800" b="0">
                <a:solidFill>
                  <a:srgbClr val="000000"/>
                </a:solidFill>
                <a:latin typeface="Calibri"/>
              </a:rPr>
              <a:t> results/metrics.json, results/*_predictions.csv, results/figures/, results/error_analysis.md.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Fallback if the server fails:</a:t>
            </a:r>
            <a:r>
              <a:rPr sz="1800" b="0">
                <a:solidFill>
                  <a:srgbClr val="000000"/>
                </a:solidFill>
                <a:latin typeface="Calibri"/>
              </a:rPr>
              <a:t> show the captured slides and prediction CSVs.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Backup - Confusion Matrix (Set 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1430000" cy="16962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2743200"/>
                <a:gridCol w="2743200"/>
                <a:gridCol w="2834640"/>
              </a:tblGrid>
              <a:tr h="416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Gold \ Predicted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Undetermined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54864" marR="54864" marT="27432" marB="27432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299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023360"/>
            <a:ext cx="10698480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</a:t>
            </a:r>
            <a:r>
              <a:rPr sz="1600" b="0">
                <a:solidFill>
                  <a:srgbClr val="000000"/>
                </a:solidFill>
                <a:latin typeface="Calibri"/>
              </a:rPr>
              <a:t>Abstention dominates: the model commits to only 1 of 600 claims, and that one is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1170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TrumorGPT: A Graph-Based Retrieval-Augmented LLM for Fact-Checking</vt:lpstr>
      <vt:lpstr>Selection of the Problem</vt:lpstr>
      <vt:lpstr>Understanding of the Problem</vt:lpstr>
      <vt:lpstr>Datasets Used</vt:lpstr>
      <vt:lpstr>Interpretation of the Solution on the Dataset</vt:lpstr>
      <vt:lpstr>Feature Selection</vt:lpstr>
      <vt:lpstr>Existing Algorithms - Literature Survey</vt:lpstr>
      <vt:lpstr>Learning Technique Identified</vt:lpstr>
      <vt:lpstr>Our Results</vt:lpstr>
      <vt:lpstr>Ablation and Error Analysis</vt:lpstr>
      <vt:lpstr>Limitations and Future Work</vt:lpstr>
      <vt:lpstr>Demo / Live Run</vt:lpstr>
      <vt:lpstr>Backup - Confusion Matrix (Set A)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TrumorGPT: A Graph-Based Retrieval-Augmented LLM for Fact-Checking</dc:title>
  <dc:subject>Capstone Project - Lab Evaluations 1 and 2</dc:subject>
  <dc:creator>Akash KG</dc:creator>
  <cp:keywords/>
  <dc:description/>
  <cp:lastModifiedBy>Akash KG</cp:lastModifiedBy>
  <cp:revision>1</cp:revision>
  <dcterms:created xsi:type="dcterms:W3CDTF">2026-09-14T21:37:00Z</dcterms:created>
  <dcterms:modified xsi:type="dcterms:W3CDTF">2026-09-14T22:04:00Z</dcterms:modified>
  <cp:category/>
</cp:coreProperties>
</file>