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F1F1F"/>
                </a:solidFill>
                <a:latin typeface="Calibri"/>
              </a:defRPr>
            </a:pPr>
            <a:r>
              <a:t>TrumorGPT: GraphRAG Health Fact-Checking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F1F1F"/>
                </a:solidFill>
                <a:latin typeface="Calibri"/>
              </a:defRPr>
            </a:pPr>
            <a:r>
              <a:t>Capstone Project - Review 3</a:t>
            </a:r>
          </a:p>
          <a:p>
            <a:pPr>
              <a:spcAft>
                <a:spcPts val="600"/>
              </a:spcAft>
              <a:defRPr sz="2000" b="0">
                <a:solidFill>
                  <a:srgbClr val="000000"/>
                </a:solidFill>
                <a:latin typeface="Calibri"/>
              </a:defRPr>
            </a:pPr>
            <a:r>
              <a:t>Akash KG  |  Roll No.: CH.SC.U4CSE24005</a:t>
            </a:r>
          </a:p>
          <a:p>
            <a:pPr>
              <a:spcAft>
                <a:spcPts val="600"/>
              </a:spcAft>
              <a:defRPr sz="10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Base paper: C. N. Hang, P.-D. Yu, C. W. Tan. IEEE Transactions on Artificial Intelligence, 6(11), 3148-3162, 2025. DOI: 10.1109/TAI.2025.3567369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Problem Identification and Literature Survey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>•  </a:t>
            </a:r>
            <a:r>
              <a:rPr sz="1900" b="1">
                <a:solidFill>
                  <a:srgbClr val="000000"/>
                </a:solidFill>
                <a:latin typeface="Calibri"/>
              </a:rPr>
              <a:t>Problem:</a:t>
            </a:r>
            <a:r>
              <a:rPr sz="1900" b="0">
                <a:solidFill>
                  <a:srgbClr val="000000"/>
                </a:solidFill>
                <a:latin typeface="Calibri"/>
              </a:rPr>
              <a:t> health misinformation spreads faster than verified facts; manual checking cannot scale.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>•  </a:t>
            </a:r>
            <a:r>
              <a:rPr sz="1900" b="1">
                <a:solidFill>
                  <a:srgbClr val="000000"/>
                </a:solidFill>
                <a:latin typeface="Calibri"/>
              </a:rPr>
              <a:t>Gap 1 - LLMs:</a:t>
            </a:r>
            <a:r>
              <a:rPr sz="1900" b="0">
                <a:solidFill>
                  <a:srgbClr val="000000"/>
                </a:solidFill>
                <a:latin typeface="Calibri"/>
              </a:rPr>
              <a:t> fluent but </a:t>
            </a:r>
            <a:r>
              <a:rPr sz="1900" b="1">
                <a:solidFill>
                  <a:srgbClr val="000000"/>
                </a:solidFill>
                <a:latin typeface="Calibri"/>
              </a:rPr>
              <a:t>hallucinate</a:t>
            </a:r>
            <a:r>
              <a:rPr sz="1900" b="0">
                <a:solidFill>
                  <a:srgbClr val="000000"/>
                </a:solidFill>
                <a:latin typeface="Calibri"/>
              </a:rPr>
              <a:t> and are frozen at a training date.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>•  </a:t>
            </a:r>
            <a:r>
              <a:rPr sz="1900" b="1">
                <a:solidFill>
                  <a:srgbClr val="000000"/>
                </a:solidFill>
                <a:latin typeface="Calibri"/>
              </a:rPr>
              <a:t>Gap 2 - knowledge graphs:</a:t>
            </a:r>
            <a:r>
              <a:rPr sz="1900" b="0">
                <a:solidFill>
                  <a:srgbClr val="000000"/>
                </a:solidFill>
                <a:latin typeface="Calibri"/>
              </a:rPr>
              <a:t> structured but </a:t>
            </a:r>
            <a:r>
              <a:rPr sz="1900" b="1">
                <a:solidFill>
                  <a:srgbClr val="000000"/>
                </a:solidFill>
                <a:latin typeface="Calibri"/>
              </a:rPr>
              <a:t>static and limited</a:t>
            </a:r>
            <a:r>
              <a:rPr sz="1900" b="0">
                <a:solidFill>
                  <a:srgbClr val="000000"/>
                </a:solidFill>
                <a:latin typeface="Calibri"/>
              </a:rPr>
              <a:t> in coverage.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>•  </a:t>
            </a:r>
            <a:r>
              <a:rPr sz="1900" b="1">
                <a:solidFill>
                  <a:srgbClr val="000000"/>
                </a:solidFill>
                <a:latin typeface="Calibri"/>
              </a:rPr>
              <a:t>Gap 3 - standard RAG:</a:t>
            </a:r>
            <a:r>
              <a:rPr sz="1900" b="0">
                <a:solidFill>
                  <a:srgbClr val="000000"/>
                </a:solidFill>
                <a:latin typeface="Calibri"/>
              </a:rPr>
              <a:t> retrieves </a:t>
            </a:r>
            <a:r>
              <a:rPr sz="1900" b="1">
                <a:solidFill>
                  <a:srgbClr val="000000"/>
                </a:solidFill>
                <a:latin typeface="Calibri"/>
              </a:rPr>
              <a:t>text passages</a:t>
            </a:r>
            <a:r>
              <a:rPr sz="1900" b="0">
                <a:solidFill>
                  <a:srgbClr val="000000"/>
                </a:solidFill>
                <a:latin typeface="Calibri"/>
              </a:rPr>
              <a:t>, not relational structure.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>•  </a:t>
            </a:r>
            <a:r>
              <a:rPr sz="1900" b="1">
                <a:solidFill>
                  <a:srgbClr val="000000"/>
                </a:solidFill>
                <a:latin typeface="Calibri"/>
              </a:rPr>
              <a:t>Gap 4 (the paper's):</a:t>
            </a:r>
            <a:r>
              <a:rPr sz="1900" b="0">
                <a:solidFill>
                  <a:srgbClr val="000000"/>
                </a:solidFill>
                <a:latin typeface="Calibri"/>
              </a:rPr>
              <a:t> no method combines an </a:t>
            </a:r>
            <a:r>
              <a:rPr sz="1900" b="1">
                <a:solidFill>
                  <a:srgbClr val="000000"/>
                </a:solidFill>
                <a:latin typeface="Calibri"/>
              </a:rPr>
              <a:t>updatable health KG</a:t>
            </a:r>
            <a:r>
              <a:rPr sz="1900" b="0">
                <a:solidFill>
                  <a:srgbClr val="000000"/>
                </a:solidFill>
                <a:latin typeface="Calibri"/>
              </a:rPr>
              <a:t> with LLM reasoning.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>•  </a:t>
            </a:r>
            <a:r>
              <a:rPr sz="1900" b="1">
                <a:solidFill>
                  <a:srgbClr val="000000"/>
                </a:solidFill>
                <a:latin typeface="Calibri"/>
              </a:rPr>
              <a:t>Future research:</a:t>
            </a:r>
            <a:r>
              <a:rPr sz="1900" b="0">
                <a:solidFill>
                  <a:srgbClr val="000000"/>
                </a:solidFill>
                <a:latin typeface="Calibri"/>
              </a:rPr>
              <a:t> live knowledge freshness, hallucination control, and reasoning over multi-step claims.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Datasets and Data Preprocessing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11430000" cy="2423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4480"/>
                <a:gridCol w="4206240"/>
                <a:gridCol w="5669280"/>
              </a:tblGrid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What it provides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Preprocessing applied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DBpedia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Structured health facts as RDF triples (English, post-Dec 2023)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Health-keyword filter (health, medical, disease, pandemic...); loaded as the reference base</a:t>
                      </a:r>
                    </a:p>
                  </a:txBody>
                  <a:tcPr marL="54864" marR="54864" marT="27432" marB="27432" anchor="ctr"/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PolitiFact / LIAR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Fact-checked claims with 6-level ratings (12,836 rows)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Health-care filter (1,434); 6 ratings folded to binary; balanced 300/300 test (seed 42); 834 rows for baseline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480560"/>
            <a:ext cx="10698480" cy="205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</a:t>
            </a:r>
            <a:r>
              <a:rPr sz="1500" b="1">
                <a:solidFill>
                  <a:srgbClr val="000000"/>
                </a:solidFill>
                <a:latin typeface="Calibri"/>
              </a:rPr>
              <a:t>Inconsistencies addressed:</a:t>
            </a:r>
            <a:r>
              <a:rPr sz="1500" b="0">
                <a:solidFill>
                  <a:srgbClr val="000000"/>
                </a:solidFill>
                <a:latin typeface="Calibri"/>
              </a:rPr>
              <a:t> label granularity (6 to 2), class imbalance (balanced sampling), and text noise (URLs and punctuation stripped).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</a:t>
            </a:r>
            <a:r>
              <a:rPr sz="1500" b="1">
                <a:solidFill>
                  <a:srgbClr val="000000"/>
                </a:solidFill>
                <a:latin typeface="Calibri"/>
              </a:rPr>
              <a:t>Feature justification:</a:t>
            </a:r>
            <a:r>
              <a:rPr sz="1500" b="0">
                <a:solidFill>
                  <a:srgbClr val="000000"/>
                </a:solidFill>
                <a:latin typeface="Calibri"/>
              </a:rPr>
              <a:t> sentence embedding + topic vector (0.7/0.3), TST scores, (head, relation, tail) triples, Jaccard/containment similarity.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Algorithmic Design and Fixes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Pipeline:</a:t>
            </a:r>
            <a:r>
              <a:rPr sz="1800" b="0">
                <a:solidFill>
                  <a:srgbClr val="000000"/>
                </a:solidFill>
                <a:latin typeface="Calibri"/>
              </a:rPr>
              <a:t> sentence centrality (BERT+LDA) -&gt; Topic-Specific TextRank -&gt; knowledge-graph extraction -&gt; GraphRAG verification.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Retrieval-grounded judge:</a:t>
            </a:r>
            <a:r>
              <a:rPr sz="1800" b="0">
                <a:solidFill>
                  <a:srgbClr val="000000"/>
                </a:solidFill>
                <a:latin typeface="Calibri"/>
              </a:rPr>
              <a:t> a local LLM (</a:t>
            </a:r>
            <a:r>
              <a:rPr sz="1800" b="1">
                <a:solidFill>
                  <a:srgbClr val="000000"/>
                </a:solidFill>
                <a:latin typeface="Calibri"/>
              </a:rPr>
              <a:t>qwen2.5:7b</a:t>
            </a:r>
            <a:r>
              <a:rPr sz="1800" b="0">
                <a:solidFill>
                  <a:srgbClr val="000000"/>
                </a:solidFill>
                <a:latin typeface="Calibri"/>
              </a:rPr>
              <a:t> via Ollama) decides each verdict from retrieved evidence.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On-demand reference graph:</a:t>
            </a:r>
            <a:r>
              <a:rPr sz="1800" b="0">
                <a:solidFill>
                  <a:srgbClr val="000000"/>
                </a:solidFill>
                <a:latin typeface="Calibri"/>
              </a:rPr>
              <a:t> the graph a claim is matched against is built per claim from live evidence, so any health claim can match instead of only the 8 seed graphs.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Fixes for the paper's drawbacks:</a:t>
            </a:r>
            <a:r>
              <a:rPr sz="1800" b="0">
                <a:solidFill>
                  <a:srgbClr val="000000"/>
                </a:solidFill>
                <a:latin typeface="Calibri"/>
              </a:rPr>
              <a:t> limited/static KB -&gt; on-demand graph; hallucination -&gt; evidence-grounded judging; rule-extraction errors -&gt; LLM judging.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S = max(Jaccard, containment)</a:t>
            </a:r>
            <a:r>
              <a:rPr sz="1800" b="0">
                <a:solidFill>
                  <a:srgbClr val="000000"/>
                </a:solidFill>
                <a:latin typeface="Calibri"/>
              </a:rPr>
              <a:t> with a contradiction rule; v = [0.7*e ; 0.3*t], TST alpha = 1.5.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Results and State-of-the-Art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521440" cy="33558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31920"/>
                <a:gridCol w="1920240"/>
                <a:gridCol w="1920240"/>
                <a:gridCol w="1828800"/>
                <a:gridCol w="1920240"/>
              </a:tblGrid>
              <a:tr h="411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TrumorGPT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88.5%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91.4%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85.0%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88.1%</a:t>
                      </a:r>
                    </a:p>
                  </a:txBody>
                  <a:tcPr marL="54864" marR="54864" marT="27432" marB="27432" anchor="ctr"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GPT-4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83.3%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85.7%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82.8%</a:t>
                      </a:r>
                    </a:p>
                  </a:txBody>
                  <a:tcPr marL="54864" marR="54864" marT="27432" marB="27432" anchor="ctr"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Gemini 1.5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81.7%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83.9%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78.3%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81.0%</a:t>
                      </a:r>
                    </a:p>
                  </a:txBody>
                  <a:tcPr marL="54864" marR="54864" marT="27432" marB="27432" anchor="ctr"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LLaMA 3.2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81.8%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83.0%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81.5%</a:t>
                      </a:r>
                    </a:p>
                  </a:txBody>
                  <a:tcPr marL="54864" marR="54864" marT="27432" marB="27432" anchor="ctr"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PaLM 2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76.8%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77.9%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75.0%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76.4%</a:t>
                      </a:r>
                    </a:p>
                  </a:txBody>
                  <a:tcPr marL="54864" marR="54864" marT="27432" marB="27432" anchor="ctr"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Claude 3.5 Sonnet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77.2%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78.4%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75.0%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76.7%</a:t>
                      </a:r>
                    </a:p>
                  </a:txBody>
                  <a:tcPr marL="54864" marR="54864" marT="27432" marB="27432" anchor="ctr"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GPT-3.5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72.7%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75.8%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66.7%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70.9%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920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Calibri"/>
              </a:rPr>
              <a:t>•  </a:t>
            </a:r>
            <a:r>
              <a:rPr sz="1300" b="0">
                <a:solidFill>
                  <a:srgbClr val="000000"/>
                </a:solidFill>
                <a:latin typeface="Calibri"/>
              </a:rPr>
              <a:t>Results as reported in the base paper (600 PolitiFact claims, 300 true / 300 false); TrumorGPT leads every metric, about 5.2 points above GPT-4 on accuracy.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Calibri"/>
              </a:rPr>
              <a:t>•  </a:t>
            </a:r>
            <a:r>
              <a:rPr sz="1300" b="1">
                <a:solidFill>
                  <a:srgbClr val="000000"/>
                </a:solidFill>
                <a:latin typeface="Calibri"/>
              </a:rPr>
              <a:t>Published health fact-checking benchmarks:</a:t>
            </a:r>
            <a:r>
              <a:rPr sz="1300" b="0">
                <a:solidFill>
                  <a:srgbClr val="000000"/>
                </a:solidFill>
                <a:latin typeface="Calibri"/>
              </a:rPr>
              <a:t> SciFact about 70% (gold abstracts); PUBHEALTH SciBERT 69.7% acc; HealthVer claim-only 50.0%.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Calibri"/>
              </a:rPr>
              <a:t>•  </a:t>
            </a:r>
            <a:r>
              <a:rPr sz="1300" b="1">
                <a:solidFill>
                  <a:srgbClr val="000000"/>
                </a:solidFill>
                <a:latin typeface="Calibri"/>
              </a:rPr>
              <a:t>Our implementation:</a:t>
            </a:r>
            <a:r>
              <a:rPr sz="1300" b="0">
                <a:solidFill>
                  <a:srgbClr val="000000"/>
                </a:solidFill>
                <a:latin typeface="Calibri"/>
              </a:rPr>
              <a:t> 91.7% on the isolated verification component.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Implementation (Live)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ult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858000" cy="3461153"/>
          </a:xfrm>
          <a:prstGeom prst="rect">
            <a:avLst/>
          </a:prstGeom>
        </p:spPr>
      </p:pic>
      <p:pic>
        <p:nvPicPr>
          <p:cNvPr id="5" name="Picture 4" descr="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554480"/>
            <a:ext cx="4206240" cy="21263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27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1F1F"/>
                </a:solidFill>
                <a:latin typeface="Calibri"/>
              </a:defRPr>
            </a:pPr>
            <a:r>
              <a:t>Demo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927080" cy="177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Runs locally</a:t>
            </a:r>
            <a:r>
              <a:rPr sz="1800" b="0">
                <a:solidFill>
                  <a:srgbClr val="000000"/>
                </a:solidFill>
                <a:latin typeface="Calibri"/>
              </a:rPr>
              <a:t> with qwen2.5:7b via Ollama, fully offline-capable; ~8 seconds per claim.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Try any claim:</a:t>
            </a:r>
            <a:r>
              <a:rPr sz="1800" b="0">
                <a:solidFill>
                  <a:srgbClr val="000000"/>
                </a:solidFill>
                <a:latin typeface="Calibri"/>
              </a:rPr>
              <a:t> e.g. "Drinking bleach cures COVID-19" -&gt; False; "The MMR vaccine is safe and effective" -&gt; True.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Usability:</a:t>
            </a:r>
            <a:r>
              <a:rPr sz="1800" b="0">
                <a:solidFill>
                  <a:srgbClr val="000000"/>
                </a:solidFill>
                <a:latin typeface="Calibri"/>
              </a:rPr>
              <a:t> press Enter to submit; each knowledge graph has a maximize/fullscreen button.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Calibri"/>
              </a:rPr>
              <a:t>•  </a:t>
            </a:r>
            <a:r>
              <a:rPr sz="1800" b="1">
                <a:solidFill>
                  <a:srgbClr val="000000"/>
                </a:solidFill>
                <a:latin typeface="Calibri"/>
              </a:rPr>
              <a:t>Future work:</a:t>
            </a:r>
            <a:r>
              <a:rPr sz="1800" b="0">
                <a:solidFill>
                  <a:srgbClr val="000000"/>
                </a:solidFill>
                <a:latin typeface="Calibri"/>
              </a:rPr>
              <a:t> ingest DBpedia health triples, add multi-step reasoning, calibrate the judge, and report confidence intervals on a larger 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630</Words>
  <Application>Microsoft Office PowerPoint</Application>
  <PresentationFormat>Widescreen</PresentationFormat>
  <Paragraphs>42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Title</vt:lpstr>
      <vt:lpstr>Problem Identification and Literature Survey</vt:lpstr>
      <vt:lpstr>Datasets and Data Preprocessing</vt:lpstr>
      <vt:lpstr>Algorithmic Design and Fixes</vt:lpstr>
      <vt:lpstr>Results and State-of-the-Art Comparison</vt:lpstr>
      <vt:lpstr>Implementation (Live)</vt:lpstr>
      <vt:lpstr>Demo and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TrumorGPT: A Graph-Based Retrieval-Augmented LLM for Fact-Checking</dc:title>
  <dc:subject>Capstone Project - Review 3</dc:subject>
  <dc:creator>Akash KG</dc:creator>
  <cp:keywords/>
  <dc:description/>
  <cp:lastModifiedBy>Akash KG</cp:lastModifiedBy>
  <cp:revision>1</cp:revision>
  <dcterms:created xsi:type="dcterms:W3CDTF">2026-09-14T21:37:00Z</dcterms:created>
  <dcterms:modified xsi:type="dcterms:W3CDTF">2026-09-14T22:04:00Z</dcterms:modified>
  <cp:category/>
</cp:coreProperties>
</file>