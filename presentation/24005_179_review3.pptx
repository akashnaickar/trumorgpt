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1F1F"/>
                </a:solidFill>
                <a:latin typeface="Calibri"/>
              </a:defRPr>
            </a:pPr>
            <a:r>
              <a:t>TrumorGPT: GraphRAG Health Fact-Checking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1F1F"/>
                </a:solidFill>
                <a:latin typeface="Calibri"/>
              </a:defRPr>
            </a:pPr>
            <a:r>
              <a:t>Capstone Project - Review 3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Akash KG  |  Roll No.: CH.SC.U4CSE24005</a:t>
            </a:r>
          </a:p>
          <a:p>
            <a:pPr>
              <a:spcAft>
                <a:spcPts val="6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Base paper: C. N. Hang, P.-D. Yu, C. W. Tan. IEEE Transactions on Artificial Intelligence, 6(11), 3148-3162, 2025. DOI: 10.1109/TAI.2025.3567369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Problem Identification and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Problem:</a:t>
            </a:r>
            <a:r>
              <a:rPr sz="1900" b="0">
                <a:solidFill>
                  <a:srgbClr val="000000"/>
                </a:solidFill>
                <a:latin typeface="Calibri"/>
              </a:rPr>
              <a:t> health misinformation spreads faster than verified facts; manual checking cannot scale.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1 - LLMs:</a:t>
            </a:r>
            <a:r>
              <a:rPr sz="1900" b="0">
                <a:solidFill>
                  <a:srgbClr val="000000"/>
                </a:solidFill>
                <a:latin typeface="Calibri"/>
              </a:rPr>
              <a:t> fluent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hallucinate</a:t>
            </a:r>
            <a:r>
              <a:rPr sz="1900" b="0">
                <a:solidFill>
                  <a:srgbClr val="000000"/>
                </a:solidFill>
                <a:latin typeface="Calibri"/>
              </a:rPr>
              <a:t> and are frozen at a training date.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2 - knowledge graphs:</a:t>
            </a:r>
            <a:r>
              <a:rPr sz="1900" b="0">
                <a:solidFill>
                  <a:srgbClr val="000000"/>
                </a:solidFill>
                <a:latin typeface="Calibri"/>
              </a:rPr>
              <a:t> structured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static and limited</a:t>
            </a:r>
            <a:r>
              <a:rPr sz="1900" b="0">
                <a:solidFill>
                  <a:srgbClr val="000000"/>
                </a:solidFill>
                <a:latin typeface="Calibri"/>
              </a:rPr>
              <a:t> in coverage.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3 - standard RAG:</a:t>
            </a:r>
            <a:r>
              <a:rPr sz="1900" b="0">
                <a:solidFill>
                  <a:srgbClr val="000000"/>
                </a:solidFill>
                <a:latin typeface="Calibri"/>
              </a:rPr>
              <a:t> retrieves </a:t>
            </a:r>
            <a:r>
              <a:rPr sz="1900" b="1">
                <a:solidFill>
                  <a:srgbClr val="000000"/>
                </a:solidFill>
                <a:latin typeface="Calibri"/>
              </a:rPr>
              <a:t>text passages</a:t>
            </a:r>
            <a:r>
              <a:rPr sz="1900" b="0">
                <a:solidFill>
                  <a:srgbClr val="000000"/>
                </a:solidFill>
                <a:latin typeface="Calibri"/>
              </a:rPr>
              <a:t>, not relational structure.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4 (the paper's):</a:t>
            </a:r>
            <a:r>
              <a:rPr sz="1900" b="0">
                <a:solidFill>
                  <a:srgbClr val="000000"/>
                </a:solidFill>
                <a:latin typeface="Calibri"/>
              </a:rPr>
              <a:t> no method combines an </a:t>
            </a:r>
            <a:r>
              <a:rPr sz="1900" b="1">
                <a:solidFill>
                  <a:srgbClr val="000000"/>
                </a:solidFill>
                <a:latin typeface="Calibri"/>
              </a:rPr>
              <a:t>updatable health KG</a:t>
            </a:r>
            <a:r>
              <a:rPr sz="1900" b="0">
                <a:solidFill>
                  <a:srgbClr val="000000"/>
                </a:solidFill>
                <a:latin typeface="Calibri"/>
              </a:rPr>
              <a:t> with LLM reasoning.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Future research:</a:t>
            </a:r>
            <a:r>
              <a:rPr sz="1900" b="0">
                <a:solidFill>
                  <a:srgbClr val="000000"/>
                </a:solidFill>
                <a:latin typeface="Calibri"/>
              </a:rPr>
              <a:t> live knowledge freshness, hallucination control, and reasoning over multi-step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Datasets and 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430000" cy="2423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4206240"/>
                <a:gridCol w="5669280"/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What it provides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Preprocessing applied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DBpedia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Structured health facts as RDF triples (English, post-Dec 2023)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Health-keyword filter (health, medical, disease, pandemic...); loaded as the reference base</a:t>
                      </a:r>
                    </a:p>
                  </a:txBody>
                  <a:tcPr marL="54864" marR="54864" marT="27432" marB="27432" anchor="ctr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PolitiFact / LIAR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Fact-checked claims with 6-level ratings (12,836 rows)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Health-care filter (1,434); 6 ratings folded to binary; balanced 300/300 test (seed 42); 834 rows for baseline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80560"/>
            <a:ext cx="10698480" cy="205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>
                <a:solidFill>
                  <a:srgbClr val="000000"/>
                </a:solidFill>
                <a:latin typeface="Calibri"/>
              </a:rPr>
              <a:t>Inconsistencies addressed:</a:t>
            </a:r>
            <a:r>
              <a:rPr sz="1500" b="0">
                <a:solidFill>
                  <a:srgbClr val="000000"/>
                </a:solidFill>
                <a:latin typeface="Calibri"/>
              </a:rPr>
              <a:t> label granularity (6 to 2), class imbalance (balanced sampling), and text noise (URLs and punctuation stripped).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>
                <a:solidFill>
                  <a:srgbClr val="000000"/>
                </a:solidFill>
                <a:latin typeface="Calibri"/>
              </a:rPr>
              <a:t>Feature justification:</a:t>
            </a:r>
            <a:r>
              <a:rPr sz="1500" b="0">
                <a:solidFill>
                  <a:srgbClr val="000000"/>
                </a:solidFill>
                <a:latin typeface="Calibri"/>
              </a:rPr>
              <a:t> sentence embedding + topic vector (0.7/0.3), TST scores, (head, relation, tail) triples, Jaccard/containment similarity.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Algorithmic Design and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Pipeline:</a:t>
            </a:r>
            <a:r>
              <a:rPr sz="1800" b="0">
                <a:solidFill>
                  <a:srgbClr val="000000"/>
                </a:solidFill>
                <a:latin typeface="Calibri"/>
              </a:rPr>
              <a:t> sentence centrality (BERT+LDA) -&gt; Topic-Specific TextRank -&gt; knowledge-graph extraction -&gt; GraphRAG verification.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Retrieval-grounded judge (new):</a:t>
            </a:r>
            <a:r>
              <a:rPr sz="1800" b="0">
                <a:solidFill>
                  <a:srgbClr val="000000"/>
                </a:solidFill>
                <a:latin typeface="Calibri"/>
              </a:rPr>
              <a:t> a local LLM (</a:t>
            </a:r>
            <a:r>
              <a:rPr sz="1800" b="1">
                <a:solidFill>
                  <a:srgbClr val="000000"/>
                </a:solidFill>
                <a:latin typeface="Calibri"/>
              </a:rPr>
              <a:t>qwen2.5:7b</a:t>
            </a:r>
            <a:r>
              <a:rPr sz="1800" b="0">
                <a:solidFill>
                  <a:srgbClr val="000000"/>
                </a:solidFill>
                <a:latin typeface="Calibri"/>
              </a:rPr>
              <a:t> via Ollama) decides the verdict from retrieved evidence.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Live freshness (new):</a:t>
            </a:r>
            <a:r>
              <a:rPr sz="1800" b="0">
                <a:solidFill>
                  <a:srgbClr val="000000"/>
                </a:solidFill>
                <a:latin typeface="Calibri"/>
              </a:rPr>
              <a:t> Wikipedia evidence is fetched per claim at query time, so the system is not limited to the sealed KG.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Hallucination control (new):</a:t>
            </a:r>
            <a:r>
              <a:rPr sz="1800" b="0">
                <a:solidFill>
                  <a:srgbClr val="000000"/>
                </a:solidFill>
                <a:latin typeface="Calibri"/>
              </a:rPr>
              <a:t> the system may answer </a:t>
            </a:r>
            <a:r>
              <a:rPr sz="1800" b="1">
                <a:solidFill>
                  <a:srgbClr val="000000"/>
                </a:solidFill>
                <a:latin typeface="Calibri"/>
              </a:rPr>
              <a:t>Undetermined</a:t>
            </a:r>
            <a:r>
              <a:rPr sz="1800" b="0">
                <a:solidFill>
                  <a:srgbClr val="000000"/>
                </a:solidFill>
                <a:latin typeface="Calibri"/>
              </a:rPr>
              <a:t> instead of guessing; every verdict keeps its evidence.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S = max(Jaccard, containment)</a:t>
            </a:r>
            <a:r>
              <a:rPr sz="1800" b="0">
                <a:solidFill>
                  <a:srgbClr val="000000"/>
                </a:solidFill>
                <a:latin typeface="Calibri"/>
              </a:rPr>
              <a:t> with a contradiction rule; v = [0.7*e ; 0.3*t], TST alpha = 1.5.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Paper Drawbacks vs. Our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521440" cy="4133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0640"/>
                <a:gridCol w="640080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Drawback in the paper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Fix in this implementation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Static, limited knowledge base (small coverage)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LLM judge answers any health claim; live Wikipedia evidence at query time</a:t>
                      </a:r>
                    </a:p>
                  </a:txBody>
                  <a:tcPr marL="54864" marR="54864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LLM hallucination / confident wrong answers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Evidence-grounded judging plus explicit Undetermined abstention</a:t>
                      </a:r>
                    </a:p>
                  </a:txBody>
                  <a:tcPr marL="54864" marR="54864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Rule-based triple extraction errors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LLM judging replaces reliance on the rule triples for the verdict</a:t>
                      </a:r>
                    </a:p>
                  </a:txBody>
                  <a:tcPr marL="54864" marR="54864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Six-level rating collapsed to binary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Kept binary for parity; the judge returns a short reason for review</a:t>
                      </a:r>
                    </a:p>
                  </a:txBody>
                  <a:tcPr marL="54864" marR="54864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Hard to reproduce / no test harness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Nine tests, seeded evaluation sets, one-command reproduce script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Results (Base Paper Benchmark)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521440" cy="3739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920240"/>
                <a:gridCol w="1920240"/>
                <a:gridCol w="1828800"/>
                <a:gridCol w="1920240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88.1%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82.8%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Gemini 1.5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83.9%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LLaMA 3.2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PaLM 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77.9%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76.4%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Claude 3.5 Sonnet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77.2%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78.4%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76.7%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GPT-3.5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70.9%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06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>
                <a:solidFill>
                  <a:srgbClr val="000000"/>
                </a:solidFill>
                <a:latin typeface="Calibri"/>
              </a:rPr>
              <a:t>Results as reported in the base paper on 600 PolitiFact claims (300 true / 300 false). TrumorGPT leads every metric, about 5.2 points above GPT-4 on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Comparison with State-of-the-Art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Base paper (same task, 600 claims):</a:t>
            </a:r>
            <a:r>
              <a:rPr sz="1700" b="0">
                <a:solidFill>
                  <a:srgbClr val="000000"/>
                </a:solidFill>
                <a:latin typeface="Calibri"/>
              </a:rPr>
              <a:t> TrumorGPT 88.5% acc, GPT-4 83.3%, LLaMA 3.2 81.8%, Gemini 1.5 81.7% [paper-reported].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Published health fact-checking benchmarks:</a:t>
            </a:r>
            <a:r>
              <a:rPr sz="1700" b="0">
                <a:solidFill>
                  <a:srgbClr val="000000"/>
                </a:solidFill>
                <a:latin typeface="Calibri"/>
              </a:rPr>
              <a:t> SciFact about 70% (gold abstracts); PUBHEALTH SciBERT 69.7% acc; HealthVer claim-only 50.0%.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LIAR baseline:</a:t>
            </a:r>
            <a:r>
              <a:rPr sz="1700" b="0">
                <a:solidFill>
                  <a:srgbClr val="000000"/>
                </a:solidFill>
                <a:latin typeface="Calibri"/>
              </a:rPr>
              <a:t> majority 20.8% on test; a plain classifier is the weakest reference for this task.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Our system:</a:t>
            </a:r>
            <a:r>
              <a:rPr sz="1700" b="0">
                <a:solidFill>
                  <a:srgbClr val="000000"/>
                </a:solidFill>
                <a:latin typeface="Calibri"/>
              </a:rPr>
              <a:t> 91.7% on the isolated verification component; end-to-end accuracy is limited by knowledge-base coverage, not by the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  <a:latin typeface="Calibri"/>
              </a:defRPr>
            </a:pPr>
            <a:r>
              <a:t>Published figures are cited in docs/sources.md; they are not our measurements.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Hallucination Reduction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612880" cy="2976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/>
                <a:gridCol w="3840480"/>
                <a:gridCol w="1554480"/>
                <a:gridCol w="2011680"/>
              </a:tblGrid>
              <a:tr h="416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Hallucination rate (confident-wrong)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Plain LLM, no retrieval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ours (n=30)</a:t>
                      </a:r>
                    </a:p>
                  </a:txBody>
                  <a:tcPr marL="54864" marR="54864" marT="27432" marB="27432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Our system (retrieval + abstain)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ours (n=30)</a:t>
                      </a:r>
                    </a:p>
                  </a:txBody>
                  <a:tcPr marL="54864" marR="54864" marT="27432" marB="27432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AA-Omniscience, published range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26% to 81% across models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Artificial Analysis</a:t>
                      </a:r>
                    </a:p>
                  </a:txBody>
                  <a:tcPr marL="54864" marR="54864" marT="27432" marB="27432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RAG vs conventional (cancer Q&amp;A)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about 40% to 0-6%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JMIR 2025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Hallucination = confident wrong:</a:t>
            </a:r>
            <a:r>
              <a:rPr sz="1400" b="0">
                <a:solidFill>
                  <a:srgbClr val="000000"/>
                </a:solidFill>
                <a:latin typeface="Calibri"/>
              </a:rPr>
              <a:t> wrong verdicts among the answers the system commits to (abstentions are not hallucinations).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Result:</a:t>
            </a:r>
            <a:r>
              <a:rPr sz="1400" b="0">
                <a:solidFill>
                  <a:srgbClr val="000000"/>
                </a:solidFill>
                <a:latin typeface="Calibri"/>
              </a:rPr>
              <a:t> the retrieval-grounded system lowers the confident-wrong rate (43.8% to 33.3%) by abstaining when evidence is weak.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Caveat:</a:t>
            </a:r>
            <a:r>
              <a:rPr sz="1400" b="0">
                <a:solidFill>
                  <a:srgbClr val="000000"/>
                </a:solidFill>
                <a:latin typeface="Calibri"/>
              </a:rPr>
              <a:t> 30-claim sample and a 7B local model; the published RAG study shows the same direction more strongly.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Implementation (Live)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466890"/>
          </a:xfrm>
          <a:prstGeom prst="rect">
            <a:avLst/>
          </a:prstGeom>
        </p:spPr>
      </p:pic>
      <p:pic>
        <p:nvPicPr>
          <p:cNvPr id="5" name="Picture 4" descr="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54480"/>
            <a:ext cx="4206240" cy="2126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Demo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Local model:</a:t>
            </a:r>
            <a:r>
              <a:rPr sz="1800" b="0">
                <a:solidFill>
                  <a:srgbClr val="000000"/>
                </a:solidFill>
                <a:latin typeface="Calibri"/>
              </a:rPr>
              <a:t> qwen2.5:7b-instruct via Ollama; the public demo uses the Google AI Studio (Gemini) API.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Try any claim:</a:t>
            </a:r>
            <a:r>
              <a:rPr sz="1800" b="0">
                <a:solidFill>
                  <a:srgbClr val="000000"/>
                </a:solidFill>
                <a:latin typeface="Calibri"/>
              </a:rPr>
              <a:t> e.g. "Drinking bleach cures COVID-19" -&gt; False; "The MMR vaccine is safe and effective" -&gt; True.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Future work:</a:t>
            </a:r>
            <a:r>
              <a:rPr sz="1800" b="0">
                <a:solidFill>
                  <a:srgbClr val="000000"/>
                </a:solidFill>
                <a:latin typeface="Calibri"/>
              </a:rPr>
              <a:t> ingest DBpedia health triples, add multi-step reasoning, calibrate the judge, and report confidence intervals on a larger set.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Public URL:</a:t>
            </a:r>
            <a:r>
              <a:rPr sz="1800" b="0">
                <a:solidFill>
                  <a:srgbClr val="000000"/>
                </a:solidFill>
                <a:latin typeface="Calibri"/>
              </a:rPr>
              <a:t> deployed on Vercel (see the homepage link in the repository).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900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Title</vt:lpstr>
      <vt:lpstr>Problem Identification and Literature Survey</vt:lpstr>
      <vt:lpstr>Datasets and Data Preprocessing</vt:lpstr>
      <vt:lpstr>Algorithmic Design and Approach</vt:lpstr>
      <vt:lpstr>Paper Drawbacks vs Our Fixes</vt:lpstr>
      <vt:lpstr>Results (Base Paper Benchmark)</vt:lpstr>
      <vt:lpstr>Comparison with State-of-the-Art</vt:lpstr>
      <vt:lpstr>Hallucination Reduction</vt:lpstr>
      <vt:lpstr>Implementation (Live)</vt:lpstr>
      <vt:lpstr>Demo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TrumorGPT: A Graph-Based Retrieval-Augmented LLM for Fact-Checking</dc:title>
  <dc:subject>Capstone Project - Review 3</dc:subject>
  <dc:creator>Akash KG</dc:creator>
  <cp:keywords/>
  <dc:description/>
  <cp:lastModifiedBy>Akash KG</cp:lastModifiedBy>
  <cp:revision>1</cp:revision>
  <dcterms:created xsi:type="dcterms:W3CDTF">2026-09-14T21:37:00Z</dcterms:created>
  <dcterms:modified xsi:type="dcterms:W3CDTF">2026-09-14T22:04:00Z</dcterms:modified>
  <cp:category/>
</cp:coreProperties>
</file>