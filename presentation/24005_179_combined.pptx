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800" b="1">
                <a:solidFill>
                  <a:srgbClr val="1F1F1F"/>
                </a:solidFill>
                <a:latin typeface="Calibri"/>
              </a:defRPr>
            </a:pPr>
            <a:r>
              <a:t>TrumorGPT: A Graph-Based Retrieval-Augmented LLM for Fact-Checking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F1F1F"/>
                </a:solidFill>
                <a:latin typeface="Calibri"/>
              </a:defRPr>
            </a:pPr>
            <a:r>
              <a:t>Capstone Project - Lab Evaluation 1</a:t>
            </a:r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Presented by: Akash KG</a:t>
            </a:r>
          </a:p>
          <a:p>
            <a:pPr>
              <a:spcAft>
                <a:spcPts val="6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F1F1F"/>
                </a:solidFill>
                <a:latin typeface="Calibri"/>
              </a:defRPr>
            </a:pPr>
            <a:r>
              <a:t>Base paper:</a:t>
            </a:r>
          </a:p>
          <a:p>
            <a:pPr>
              <a:spcAft>
                <a:spcPts val="6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C. N. Hang, P.-D. Yu, and C. W. Tan, "TrumorGPT: Graph-Based Retrieval-Augmented Large Language Model for Fact-Checking," IEEE Transactions on Artificial Intelligence, vol. 6, no. 11, pp. 3148-3162, Nov. 2025.</a:t>
            </a:r>
          </a:p>
          <a:p>
            <a:pPr>
              <a:spcAft>
                <a:spcPts val="6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DOI: 10.1109/TAI.2025.3567369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Selection of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Real-world issue:</a:t>
            </a:r>
            <a:r>
              <a:rPr sz="1900" b="0">
                <a:solidFill>
                  <a:srgbClr val="000000"/>
                </a:solidFill>
                <a:latin typeface="Calibri"/>
              </a:rPr>
              <a:t> health misinformation (infodemics) - the WHO declared COVID-19 the first global infodemic.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Speed of spread:</a:t>
            </a:r>
            <a:r>
              <a:rPr sz="1900" b="0">
                <a:solidFill>
                  <a:srgbClr val="000000"/>
                </a:solidFill>
                <a:latin typeface="Calibri"/>
              </a:rPr>
              <a:t> health rumors spread up to </a:t>
            </a:r>
            <a:r>
              <a:rPr sz="1900" b="1">
                <a:solidFill>
                  <a:srgbClr val="000000"/>
                </a:solidFill>
                <a:latin typeface="Calibri"/>
              </a:rPr>
              <a:t>6x faster</a:t>
            </a:r>
            <a:r>
              <a:rPr sz="1900" b="0">
                <a:solidFill>
                  <a:srgbClr val="000000"/>
                </a:solidFill>
                <a:latin typeface="Calibri"/>
              </a:rPr>
              <a:t> and can reach </a:t>
            </a:r>
            <a:r>
              <a:rPr sz="1900" b="1">
                <a:solidFill>
                  <a:srgbClr val="000000"/>
                </a:solidFill>
                <a:latin typeface="Calibri"/>
              </a:rPr>
              <a:t>1,500 people</a:t>
            </a:r>
            <a:r>
              <a:rPr sz="19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Scale of spread:</a:t>
            </a:r>
            <a:r>
              <a:rPr sz="1900" b="0">
                <a:solidFill>
                  <a:srgbClr val="000000"/>
                </a:solidFill>
                <a:latin typeface="Calibri"/>
              </a:rPr>
              <a:t> </a:t>
            </a:r>
            <a:r>
              <a:rPr sz="1900" b="1">
                <a:solidFill>
                  <a:srgbClr val="000000"/>
                </a:solidFill>
                <a:latin typeface="Calibri"/>
              </a:rPr>
              <a:t>600+ AI sites</a:t>
            </a:r>
            <a:r>
              <a:rPr sz="1900" b="0">
                <a:solidFill>
                  <a:srgbClr val="000000"/>
                </a:solidFill>
                <a:latin typeface="Calibri"/>
              </a:rPr>
              <a:t> generate medical myths, and </a:t>
            </a:r>
            <a:r>
              <a:rPr sz="1900" b="1">
                <a:solidFill>
                  <a:srgbClr val="000000"/>
                </a:solidFill>
                <a:latin typeface="Calibri"/>
              </a:rPr>
              <a:t>1 in 4 AI answers are hallucinated</a:t>
            </a:r>
            <a:r>
              <a:rPr sz="19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Impact:</a:t>
            </a:r>
            <a:r>
              <a:rPr sz="1900" b="0">
                <a:solidFill>
                  <a:srgbClr val="000000"/>
                </a:solidFill>
                <a:latin typeface="Calibri"/>
              </a:rPr>
              <a:t> false health claims cause harmful decisions, mistrust in medicine, and loss of life (Source: WHO).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Scope is workable:</a:t>
            </a:r>
            <a:r>
              <a:rPr sz="1900" b="0">
                <a:solidFill>
                  <a:srgbClr val="000000"/>
                </a:solidFill>
                <a:latin typeface="Calibri"/>
              </a:rPr>
              <a:t> limited to the </a:t>
            </a:r>
            <a:r>
              <a:rPr sz="1900" b="1">
                <a:solidFill>
                  <a:srgbClr val="000000"/>
                </a:solidFill>
                <a:latin typeface="Calibri"/>
              </a:rPr>
              <a:t>health domain</a:t>
            </a:r>
            <a:r>
              <a:rPr sz="1900" b="0">
                <a:solidFill>
                  <a:srgbClr val="000000"/>
                </a:solidFill>
                <a:latin typeface="Calibri"/>
              </a:rPr>
              <a:t>, verified against publicly available fact-check data.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Feasible:</a:t>
            </a:r>
            <a:r>
              <a:rPr sz="1900" b="0">
                <a:solidFill>
                  <a:srgbClr val="000000"/>
                </a:solidFill>
                <a:latin typeface="Calibri"/>
              </a:rPr>
              <a:t> buildable with existing LLMs and knowledge graphs; </a:t>
            </a:r>
            <a:r>
              <a:rPr sz="1900" b="1">
                <a:solidFill>
                  <a:srgbClr val="000000"/>
                </a:solidFill>
                <a:latin typeface="Calibri"/>
              </a:rPr>
              <a:t>no new model training</a:t>
            </a:r>
            <a:r>
              <a:rPr sz="1900" b="0">
                <a:solidFill>
                  <a:srgbClr val="000000"/>
                </a:solidFill>
                <a:latin typeface="Calibri"/>
              </a:rPr>
              <a:t>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Understanding of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Fact-checking</a:t>
            </a:r>
            <a:r>
              <a:rPr sz="1900" b="0">
                <a:solidFill>
                  <a:srgbClr val="000000"/>
                </a:solidFill>
                <a:latin typeface="Calibri"/>
              </a:rPr>
              <a:t> is the process of verifying whether a claim is accurate.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Manual fact-checking</a:t>
            </a:r>
            <a:r>
              <a:rPr sz="1900" b="0">
                <a:solidFill>
                  <a:srgbClr val="000000"/>
                </a:solidFill>
                <a:latin typeface="Calibri"/>
              </a:rPr>
              <a:t> (journalists) cannot keep pace with the volume of online health claims.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Standard LLMs</a:t>
            </a:r>
            <a:r>
              <a:rPr sz="1900" b="0">
                <a:solidFill>
                  <a:srgbClr val="000000"/>
                </a:solidFill>
                <a:latin typeface="Calibri"/>
              </a:rPr>
              <a:t> (GPT-3.5, GPT-4, LLaMA) </a:t>
            </a:r>
            <a:r>
              <a:rPr sz="1900" b="1">
                <a:solidFill>
                  <a:srgbClr val="000000"/>
                </a:solidFill>
                <a:latin typeface="Calibri"/>
              </a:rPr>
              <a:t>hallucinate</a:t>
            </a:r>
            <a:r>
              <a:rPr sz="1900" b="0">
                <a:solidFill>
                  <a:srgbClr val="000000"/>
                </a:solidFill>
                <a:latin typeface="Calibri"/>
              </a:rPr>
              <a:t> and rely on </a:t>
            </a:r>
            <a:r>
              <a:rPr sz="1900" b="1">
                <a:solidFill>
                  <a:srgbClr val="000000"/>
                </a:solidFill>
                <a:latin typeface="Calibri"/>
              </a:rPr>
              <a:t>static training data</a:t>
            </a:r>
            <a:r>
              <a:rPr sz="19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Knowledge graphs alone</a:t>
            </a:r>
            <a:r>
              <a:rPr sz="1900" b="0">
                <a:solidFill>
                  <a:srgbClr val="000000"/>
                </a:solidFill>
                <a:latin typeface="Calibri"/>
              </a:rPr>
              <a:t> are structured and interpretable, but </a:t>
            </a:r>
            <a:r>
              <a:rPr sz="1900" b="1">
                <a:solidFill>
                  <a:srgbClr val="000000"/>
                </a:solidFill>
                <a:latin typeface="Calibri"/>
              </a:rPr>
              <a:t>hard to keep updated</a:t>
            </a:r>
            <a:r>
              <a:rPr sz="19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Key insight:</a:t>
            </a:r>
            <a:r>
              <a:rPr sz="1900" b="0">
                <a:solidFill>
                  <a:srgbClr val="000000"/>
                </a:solidFill>
                <a:latin typeface="Calibri"/>
              </a:rPr>
              <a:t> LLMs and knowledge graphs are individually flawed but </a:t>
            </a:r>
            <a:r>
              <a:rPr sz="1900" b="1">
                <a:solidFill>
                  <a:srgbClr val="000000"/>
                </a:solidFill>
                <a:latin typeface="Calibri"/>
              </a:rPr>
              <a:t>complementary</a:t>
            </a:r>
            <a:r>
              <a:rPr sz="19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TrumorGPT</a:t>
            </a:r>
            <a:r>
              <a:rPr sz="1900" b="0">
                <a:solidFill>
                  <a:srgbClr val="000000"/>
                </a:solidFill>
                <a:latin typeface="Calibri"/>
              </a:rPr>
              <a:t> combines an LLM with semantic health knowledge graphs through </a:t>
            </a:r>
            <a:r>
              <a:rPr sz="1900" b="1">
                <a:solidFill>
                  <a:srgbClr val="000000"/>
                </a:solidFill>
                <a:latin typeface="Calibri"/>
              </a:rPr>
              <a:t>GraphRAG</a:t>
            </a:r>
            <a:r>
              <a:rPr sz="1900" b="0">
                <a:solidFill>
                  <a:srgbClr val="000000"/>
                </a:solidFill>
                <a:latin typeface="Calibri"/>
              </a:rPr>
              <a:t> (a 'trumor' = true + rumor).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Datasets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11430000" cy="2180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720"/>
                <a:gridCol w="2468880"/>
                <a:gridCol w="5120640"/>
                <a:gridCol w="2651760"/>
              </a:tblGrid>
              <a:tr h="5349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Key features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6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DBpedia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Knowledge graph built from Wikipedia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RDF triples (head, relation, tail); class and property ontology; multilingual; SPARQL endpoint; updated automatically from Wikipedia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~4.2M instances, 768 classes, ~3,000 properties</a:t>
                      </a:r>
                    </a:p>
                  </a:txBody>
                  <a:tcPr marL="54864" marR="54864" marT="27432" marB="27432" anchor="ctr"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PolitiFact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Fact-checking corpus (US politics)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Truth-O-Meter with 6 rating levels; topic tags; claim text, speaker, author and date; expert-verified labels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5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~16,000 rated statements (2011-2023)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937760"/>
            <a:ext cx="1069848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</a:t>
            </a:r>
            <a:r>
              <a:rPr sz="1700" b="1">
                <a:solidFill>
                  <a:srgbClr val="000000"/>
                </a:solidFill>
                <a:latin typeface="Calibri"/>
              </a:rPr>
              <a:t>Used here:</a:t>
            </a:r>
            <a:r>
              <a:rPr sz="1700" b="0">
                <a:solidFill>
                  <a:srgbClr val="000000"/>
                </a:solidFill>
                <a:latin typeface="Calibri"/>
              </a:rPr>
              <a:t> DBpedia filtered to health terms (health, medical, disease, pandemic, epidemic); PolitiFact Health Care and Coronavirus claims - </a:t>
            </a:r>
            <a:r>
              <a:rPr sz="1700" b="1">
                <a:solidFill>
                  <a:srgbClr val="000000"/>
                </a:solidFill>
                <a:latin typeface="Calibri"/>
              </a:rPr>
              <a:t>600 total (300 true / 300 false)</a:t>
            </a:r>
            <a:r>
              <a:rPr sz="17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</a:t>
            </a:r>
            <a:r>
              <a:rPr sz="1700" b="1">
                <a:solidFill>
                  <a:srgbClr val="000000"/>
                </a:solidFill>
                <a:latin typeface="Calibri"/>
              </a:rPr>
              <a:t>Binary mapping:</a:t>
            </a:r>
            <a:r>
              <a:rPr sz="1700" b="0">
                <a:solidFill>
                  <a:srgbClr val="000000"/>
                </a:solidFill>
                <a:latin typeface="Calibri"/>
              </a:rPr>
              <a:t> True / Mostly True / Half True -&gt; </a:t>
            </a:r>
            <a:r>
              <a:rPr sz="1700" b="1">
                <a:solidFill>
                  <a:srgbClr val="000000"/>
                </a:solidFill>
                <a:latin typeface="Calibri"/>
              </a:rPr>
              <a:t>True</a:t>
            </a:r>
            <a:r>
              <a:rPr sz="1700" b="0">
                <a:solidFill>
                  <a:srgbClr val="000000"/>
                </a:solidFill>
                <a:latin typeface="Calibri"/>
              </a:rPr>
              <a:t>; Mostly False / False / Pants on Fire -&gt; </a:t>
            </a:r>
            <a:r>
              <a:rPr sz="1700" b="1">
                <a:solidFill>
                  <a:srgbClr val="000000"/>
                </a:solidFill>
                <a:latin typeface="Calibri"/>
              </a:rPr>
              <a:t>False</a:t>
            </a:r>
            <a:r>
              <a:rPr sz="1700" b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Interpretation of the Solution on the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Pipeline:</a:t>
            </a:r>
            <a:r>
              <a:rPr sz="1800" b="0">
                <a:solidFill>
                  <a:srgbClr val="000000"/>
                </a:solidFill>
                <a:latin typeface="Calibri"/>
              </a:rPr>
              <a:t> claim -&gt; key sentences (LDA+BERT, TST) -&gt; query KG (few-shot LLM) -&gt; match a database of KGs -&gt; verdict.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Matching:</a:t>
            </a:r>
            <a:r>
              <a:rPr sz="1800" b="0">
                <a:solidFill>
                  <a:srgbClr val="000000"/>
                </a:solidFill>
                <a:latin typeface="Calibri"/>
              </a:rPr>
              <a:t> subgraph isomorphism and </a:t>
            </a:r>
            <a:r>
              <a:rPr sz="1800" b="1">
                <a:solidFill>
                  <a:srgbClr val="000000"/>
                </a:solidFill>
                <a:latin typeface="Calibri"/>
              </a:rPr>
              <a:t>Jaccard similarity</a:t>
            </a:r>
            <a:r>
              <a:rPr sz="1800" b="0">
                <a:solidFill>
                  <a:srgbClr val="000000"/>
                </a:solidFill>
                <a:latin typeface="Calibri"/>
              </a:rPr>
              <a:t>; match found = </a:t>
            </a:r>
            <a:r>
              <a:rPr sz="1800" b="1">
                <a:solidFill>
                  <a:srgbClr val="000000"/>
                </a:solidFill>
                <a:latin typeface="Calibri"/>
              </a:rPr>
              <a:t>True</a:t>
            </a:r>
            <a:r>
              <a:rPr sz="1800" b="0">
                <a:solidFill>
                  <a:srgbClr val="000000"/>
                </a:solidFill>
                <a:latin typeface="Calibri"/>
              </a:rPr>
              <a:t>, contradiction = </a:t>
            </a:r>
            <a:r>
              <a:rPr sz="1800" b="1">
                <a:solidFill>
                  <a:srgbClr val="000000"/>
                </a:solidFill>
                <a:latin typeface="Calibri"/>
              </a:rPr>
              <a:t>False</a:t>
            </a:r>
            <a:r>
              <a:rPr sz="1800" b="0">
                <a:solidFill>
                  <a:srgbClr val="000000"/>
                </a:solidFill>
                <a:latin typeface="Calibri"/>
              </a:rPr>
              <a:t>, else </a:t>
            </a:r>
            <a:r>
              <a:rPr sz="1800" b="1">
                <a:solidFill>
                  <a:srgbClr val="000000"/>
                </a:solidFill>
                <a:latin typeface="Calibri"/>
              </a:rPr>
              <a:t>Undetermined</a:t>
            </a:r>
            <a:r>
              <a:rPr sz="18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Metrics:</a:t>
            </a:r>
            <a:r>
              <a:rPr sz="1800" b="0">
                <a:solidFill>
                  <a:srgbClr val="000000"/>
                </a:solidFill>
                <a:latin typeface="Calibri"/>
              </a:rPr>
              <a:t> accuracy, precision, recall and F1-score measured against PolitiFact ground truth.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Result:</a:t>
            </a:r>
            <a:r>
              <a:rPr sz="1800" b="0">
                <a:solidFill>
                  <a:srgbClr val="000000"/>
                </a:solidFill>
                <a:latin typeface="Calibri"/>
              </a:rPr>
              <a:t> TrumorGPT scores </a:t>
            </a:r>
            <a:r>
              <a:rPr sz="1800" b="1">
                <a:solidFill>
                  <a:srgbClr val="000000"/>
                </a:solidFill>
                <a:latin typeface="Calibri"/>
              </a:rPr>
              <a:t>88.5% accuracy, 91.4% precision, 85.0% recall and 88.1% F1</a:t>
            </a:r>
            <a:r>
              <a:rPr sz="18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Improvement:</a:t>
            </a:r>
            <a:r>
              <a:rPr sz="1800" b="0">
                <a:solidFill>
                  <a:srgbClr val="000000"/>
                </a:solidFill>
                <a:latin typeface="Calibri"/>
              </a:rPr>
              <a:t> ~</a:t>
            </a:r>
            <a:r>
              <a:rPr sz="1800" b="1">
                <a:solidFill>
                  <a:srgbClr val="000000"/>
                </a:solidFill>
                <a:latin typeface="Calibri"/>
              </a:rPr>
              <a:t>5.5 points</a:t>
            </a:r>
            <a:r>
              <a:rPr sz="1800" b="0">
                <a:solidFill>
                  <a:srgbClr val="000000"/>
                </a:solidFill>
                <a:latin typeface="Calibri"/>
              </a:rPr>
              <a:t> over base GPT-4; identifies </a:t>
            </a:r>
            <a:r>
              <a:rPr sz="1800" b="1">
                <a:solidFill>
                  <a:srgbClr val="000000"/>
                </a:solidFill>
                <a:latin typeface="Calibri"/>
              </a:rPr>
              <a:t>85% of true</a:t>
            </a:r>
            <a:r>
              <a:rPr sz="1800" b="0">
                <a:solidFill>
                  <a:srgbClr val="000000"/>
                </a:solidFill>
                <a:latin typeface="Calibri"/>
              </a:rPr>
              <a:t> and </a:t>
            </a:r>
            <a:r>
              <a:rPr sz="1800" b="1">
                <a:solidFill>
                  <a:srgbClr val="000000"/>
                </a:solidFill>
                <a:latin typeface="Calibri"/>
              </a:rPr>
              <a:t>92% of false</a:t>
            </a:r>
            <a:r>
              <a:rPr sz="1800" b="0">
                <a:solidFill>
                  <a:srgbClr val="000000"/>
                </a:solidFill>
                <a:latin typeface="Calibri"/>
              </a:rPr>
              <a:t> claims.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Interpretation:</a:t>
            </a:r>
            <a:r>
              <a:rPr sz="1800" b="0">
                <a:solidFill>
                  <a:srgbClr val="000000"/>
                </a:solidFill>
                <a:latin typeface="Calibri"/>
              </a:rPr>
              <a:t> grounding on an updatable knowledge graph improves accuracy and reduces hallucination.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3800" b="1">
                <a:solidFill>
                  <a:srgbClr val="1F1F1F"/>
                </a:solidFill>
                <a:latin typeface="Calibri"/>
              </a:defRPr>
            </a:pPr>
            <a:r>
              <a:t>TrumorGPT: A Graph-Based Retrieval-Augmented LLM for Fact-Checking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F1F1F"/>
                </a:solidFill>
                <a:latin typeface="Calibri"/>
              </a:defRPr>
            </a:pPr>
            <a:r>
              <a:t>Capstone Project - Lab Evaluation 2</a:t>
            </a:r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Presented by: Akash KG</a:t>
            </a:r>
          </a:p>
          <a:p>
            <a:pPr>
              <a:spcAft>
                <a:spcPts val="6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1F1F1F"/>
                </a:solidFill>
                <a:latin typeface="Calibri"/>
              </a:defRPr>
            </a:pPr>
            <a:r>
              <a:t>Base paper:</a:t>
            </a:r>
          </a:p>
          <a:p>
            <a:pPr>
              <a:spcAft>
                <a:spcPts val="6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C. N. Hang, P.-D. Yu, and C. W. Tan, "TrumorGPT: Graph-Based Retrieval-Augmented Large Language Model for Fact-Checking," IEEE Transactions on Artificial Intelligence, vol. 6, no. 11, pp. 3148-3162, Nov. 2025.</a:t>
            </a:r>
          </a:p>
          <a:p>
            <a:pPr>
              <a:spcAft>
                <a:spcPts val="6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DOI: 10.1109/TAI.2025.3567369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Feature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Semantic triple (head, relation, tail)</a:t>
            </a:r>
            <a:r>
              <a:rPr sz="2100" b="0">
                <a:solidFill>
                  <a:srgbClr val="000000"/>
                </a:solidFill>
                <a:latin typeface="Calibri"/>
              </a:rPr>
              <a:t> - fact-level features from a health claim.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BERT embedding (384-dim)</a:t>
            </a:r>
            <a:r>
              <a:rPr sz="2100" b="0">
                <a:solidFill>
                  <a:srgbClr val="000000"/>
                </a:solidFill>
                <a:latin typeface="Calibri"/>
              </a:rPr>
              <a:t> - semantic meaning of each sentence.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LDA topic distribution</a:t>
            </a:r>
            <a:r>
              <a:rPr sz="2100" b="0">
                <a:solidFill>
                  <a:srgbClr val="000000"/>
                </a:solidFill>
                <a:latin typeface="Calibri"/>
              </a:rPr>
              <a:t> - health-topic context of each sentence.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Topic-enhanced centrality</a:t>
            </a:r>
            <a:r>
              <a:rPr sz="2100" b="0">
                <a:solidFill>
                  <a:srgbClr val="000000"/>
                </a:solidFill>
                <a:latin typeface="Calibri"/>
              </a:rPr>
              <a:t> v = [0.7 * BERT ; 0.3 * LDA] - fuses meaning and topic relevance.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Topic-Specific TextRank score</a:t>
            </a:r>
            <a:r>
              <a:rPr sz="2100" b="0">
                <a:solidFill>
                  <a:srgbClr val="000000"/>
                </a:solidFill>
                <a:latin typeface="Calibri"/>
              </a:rPr>
              <a:t> - sentence importance under a health-topic bias.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Graph similarity</a:t>
            </a:r>
            <a:r>
              <a:rPr sz="2100" b="0">
                <a:solidFill>
                  <a:srgbClr val="000000"/>
                </a:solidFill>
                <a:latin typeface="Calibri"/>
              </a:rPr>
              <a:t> - Jaccard similarity, query containment, contradiction flag.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Why selected:</a:t>
            </a:r>
            <a:r>
              <a:rPr sz="2100" b="0">
                <a:solidFill>
                  <a:srgbClr val="000000"/>
                </a:solidFill>
                <a:latin typeface="Calibri"/>
              </a:rPr>
              <a:t> capture semantics, topic relevance and relational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Existing Algorithms - 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2608" y="1371600"/>
          <a:ext cx="116128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2743200"/>
                <a:gridCol w="2377440"/>
                <a:gridCol w="2468880"/>
                <a:gridCol w="2560320"/>
              </a:tblGrid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Author and Year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Title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Objective of the Work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Achievements of the Work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Gaps from the Work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Karadzhov et al. (2017)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Fully automated fact checking using external sources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Verify claims automatically using web evidence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Deep LSTM fact-checking framework with semantic kernels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Uses unstructured web sources; no structured knowledge graph</a:t>
                      </a:r>
                    </a:p>
                  </a:txBody>
                  <a:tcPr marL="36576" marR="36576" marT="18288" marB="18288" anchor="ctr"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Gad-Elrab et al. (2019)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Tracy: Tracing facts over knowledge graphs and text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Explain fact verification over knowledge graphs and text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Rule-based semantic traces with a user interface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Manual rules; limited graph coverage</a:t>
                      </a:r>
                    </a:p>
                  </a:txBody>
                  <a:tcPr marL="36576" marR="36576" marT="18288" marB="18288" anchor="ctr"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Lewis et al. (2020)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Retrieval-augmented generation for knowledge-intensive tasks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Combine retrieval with generation to reduce hallucination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Strong results on knowledge-intensive QA tasks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Retrieves text passages only; no graph reasoning</a:t>
                      </a:r>
                    </a:p>
                  </a:txBody>
                  <a:tcPr marL="36576" marR="36576" marT="18288" marB="18288" anchor="ctr"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Vedula &amp; Parthasarathy (2021)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FACE-KEG: Fact checking explained using knowledge graphs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Explainable fact-checking using knowledge graphs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KG-based veracity scores with explanations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Static KG; cannot use the latest health updates</a:t>
                      </a:r>
                    </a:p>
                  </a:txBody>
                  <a:tcPr marL="36576" marR="36576" marT="18288" marB="18288" anchor="ctr"/>
                </a:tc>
              </a:tr>
              <a:tr h="78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Guo et al. (2022)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 survey on automated fact-checking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Review existing automated fact-checking methods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Comprehensive taxonomy of automated fact-checking pipelines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 health-specific LLM and GraphRAG integration</a:t>
                      </a:r>
                    </a:p>
                  </a:txBody>
                  <a:tcPr marL="36576" marR="36576" marT="18288" marB="18288" anchor="ctr"/>
                </a:tc>
              </a:tr>
              <a:tr h="783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Edge et al. (2024)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From local to global: A graph RAG approach to query-focused summarization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Use knowledge graphs with RAG for global queries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Graph-based summarization over large corpora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Built for summarization, not claim verification</a:t>
                      </a:r>
                    </a:p>
                  </a:txBody>
                  <a:tcPr marL="36576" marR="36576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2608" y="571500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1F1F"/>
                </a:solidFill>
                <a:latin typeface="Calibri"/>
              </a:defRPr>
            </a:pPr>
            <a:r>
              <a:t>Gap: no existing method combines an updatable semantic health knowledge graph with LLM reasoning for health-claim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Learning Technique Identified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Proposed technique: TrumorGPT = GraphRAG + few-shot LLM + Topic-Specific TextRank.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Few-shot LLM</a:t>
            </a:r>
            <a:r>
              <a:rPr sz="2100" b="0">
                <a:solidFill>
                  <a:srgbClr val="000000"/>
                </a:solidFill>
                <a:latin typeface="Calibri"/>
              </a:rPr>
              <a:t> extracts (head, relation, tail) triples and builds the claim knowledge graph.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Topic-Specific TextRank</a:t>
            </a:r>
            <a:r>
              <a:rPr sz="2100" b="0">
                <a:solidFill>
                  <a:srgbClr val="000000"/>
                </a:solidFill>
                <a:latin typeface="Calibri"/>
              </a:rPr>
              <a:t> (alpha = 1.5, damping = 0.85) ranks the key health sentences.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LDA + BERT centrality</a:t>
            </a:r>
            <a:r>
              <a:rPr sz="2100" b="0">
                <a:solidFill>
                  <a:srgbClr val="000000"/>
                </a:solidFill>
                <a:latin typeface="Calibri"/>
              </a:rPr>
              <a:t> selects the informative sentences before graph construction.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GraphRAG</a:t>
            </a:r>
            <a:r>
              <a:rPr sz="2100" b="0">
                <a:solidFill>
                  <a:srgbClr val="000000"/>
                </a:solidFill>
                <a:latin typeface="Calibri"/>
              </a:rPr>
              <a:t> computes S(Gx, Gi) = max(Jaccard, containment), then detects contradictions -&gt; </a:t>
            </a:r>
            <a:r>
              <a:rPr sz="2100" b="1">
                <a:solidFill>
                  <a:srgbClr val="000000"/>
                </a:solidFill>
                <a:latin typeface="Calibri"/>
              </a:rPr>
              <a:t>True / False / Undetermined</a:t>
            </a:r>
            <a:r>
              <a:rPr sz="21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2100">
                <a:solidFill>
                  <a:srgbClr val="000000"/>
                </a:solidFill>
                <a:latin typeface="Calibri"/>
              </a:rPr>
              <a:t>•  </a:t>
            </a:r>
            <a:r>
              <a:rPr sz="2100" b="1">
                <a:solidFill>
                  <a:srgbClr val="000000"/>
                </a:solidFill>
                <a:latin typeface="Calibri"/>
              </a:rPr>
              <a:t>Justification:</a:t>
            </a:r>
            <a:r>
              <a:rPr sz="2100" b="0">
                <a:solidFill>
                  <a:srgbClr val="000000"/>
                </a:solidFill>
                <a:latin typeface="Calibri"/>
              </a:rPr>
              <a:t> grounds the LLM in updatable facts (less hallucination), needs no retraining, and runs on a local LLM such as LLaMA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Results of the Identified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17320"/>
          <a:ext cx="10515600" cy="356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4577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 marL="73152" marR="73152" marT="18288" marB="18288"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GPT-3.5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72.7%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75.8%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66.7%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70.9%</a:t>
                      </a:r>
                    </a:p>
                  </a:txBody>
                  <a:tcPr marL="73152" marR="73152" marT="18288" marB="18288"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GPT-4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83.3%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85.7%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82.8%</a:t>
                      </a:r>
                    </a:p>
                  </a:txBody>
                  <a:tcPr marL="73152" marR="73152" marT="18288" marB="18288"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LLaMA 3.2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81.8%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83.0%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81.5%</a:t>
                      </a:r>
                    </a:p>
                  </a:txBody>
                  <a:tcPr marL="73152" marR="73152" marT="18288" marB="18288"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PaLM 2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76.8%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77.9%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75.0%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76.4%</a:t>
                      </a:r>
                    </a:p>
                  </a:txBody>
                  <a:tcPr marL="73152" marR="73152" marT="18288" marB="18288"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Claude 3.5 Sonnet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77.2%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78.4%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75.0%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76.7%</a:t>
                      </a:r>
                    </a:p>
                  </a:txBody>
                  <a:tcPr marL="73152" marR="73152" marT="18288" marB="18288"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Gemini 1.5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81.7%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83.9%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78.3%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81.0%</a:t>
                      </a:r>
                    </a:p>
                  </a:txBody>
                  <a:tcPr marL="73152" marR="73152" marT="18288" marB="18288"/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TrumorGPT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88.5%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91.4%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85.0%</a:t>
                      </a:r>
                    </a:p>
                  </a:txBody>
                  <a:tcPr marL="73152" marR="73152" marT="18288" marB="18288"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88.1%</a:t>
                      </a:r>
                    </a:p>
                  </a:txBody>
                  <a:tcPr marL="73152" marR="73152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0749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TrumorGPT leads every metric:</a:t>
            </a:r>
            <a:r>
              <a:rPr sz="1800" b="0">
                <a:solidFill>
                  <a:srgbClr val="000000"/>
                </a:solidFill>
                <a:latin typeface="Calibri"/>
              </a:rPr>
              <a:t> 88.5% accuracy, 91.4% precision, 85.0% recall, 88.1% F1-score.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Outperforms GPT-4</a:t>
            </a:r>
            <a:r>
              <a:rPr sz="1800" b="0">
                <a:solidFill>
                  <a:srgbClr val="000000"/>
                </a:solidFill>
                <a:latin typeface="Calibri"/>
              </a:rPr>
              <a:t> and five other LLMs by +5.2 accuracy points.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0">
                <a:solidFill>
                  <a:srgbClr val="000000"/>
                </a:solidFill>
                <a:latin typeface="Calibri"/>
              </a:rPr>
              <a:t>Correctly identifies </a:t>
            </a:r>
            <a:r>
              <a:rPr sz="1800" b="1">
                <a:solidFill>
                  <a:srgbClr val="000000"/>
                </a:solidFill>
                <a:latin typeface="Calibri"/>
              </a:rPr>
              <a:t>85% of true</a:t>
            </a:r>
            <a:r>
              <a:rPr sz="1800" b="0">
                <a:solidFill>
                  <a:srgbClr val="000000"/>
                </a:solidFill>
                <a:latin typeface="Calibri"/>
              </a:rPr>
              <a:t> and </a:t>
            </a:r>
            <a:r>
              <a:rPr sz="1800" b="1">
                <a:solidFill>
                  <a:srgbClr val="000000"/>
                </a:solidFill>
                <a:latin typeface="Calibri"/>
              </a:rPr>
              <a:t>92% of false</a:t>
            </a:r>
            <a:r>
              <a:rPr sz="1800" b="0">
                <a:solidFill>
                  <a:srgbClr val="000000"/>
                </a:solidFill>
                <a:latin typeface="Calibri"/>
              </a:rPr>
              <a:t> claims; average explanation is 2.8 sentences.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0">
                <a:solidFill>
                  <a:srgbClr val="000000"/>
                </a:solidFill>
                <a:latin typeface="Calibri"/>
              </a:rPr>
              <a:t>Confirms the identified learning technique is </a:t>
            </a:r>
            <a:r>
              <a:rPr sz="1800" b="1">
                <a:solidFill>
                  <a:srgbClr val="000000"/>
                </a:solidFill>
                <a:latin typeface="Calibri"/>
              </a:rPr>
              <a:t>suitable for the problem</a:t>
            </a:r>
            <a:r>
              <a:rPr sz="1800" b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1F1F"/>
                </a:solidFill>
                <a:latin typeface="Calibri"/>
              </a:defRPr>
            </a:pPr>
            <a:r>
              <a:t>TrumorGPT: GraphRAG Health Fact-Checking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F1F1F"/>
                </a:solidFill>
                <a:latin typeface="Calibri"/>
              </a:defRPr>
            </a:pPr>
            <a:r>
              <a:t>Capstone Project - Review 3</a:t>
            </a:r>
          </a:p>
          <a:p>
            <a:pPr>
              <a:spcAft>
                <a:spcPts val="600"/>
              </a:spcAft>
              <a:defRPr sz="2000" b="0">
                <a:solidFill>
                  <a:srgbClr val="000000"/>
                </a:solidFill>
                <a:latin typeface="Calibri"/>
              </a:defRPr>
            </a:pPr>
            <a:r>
              <a:t>Akash KG  |  Roll No.: CH.SC.U4CSE24005</a:t>
            </a:r>
          </a:p>
          <a:p>
            <a:pPr>
              <a:spcAft>
                <a:spcPts val="60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Base paper: C. N. Hang, P.-D. Yu, C. W. Tan. IEEE Transactions on Artificial Intelligence, 6(11), 3148-3162, 2025. DOI: 10.1109/TAI.2025.3567369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Problem Identification and 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Problem:</a:t>
            </a:r>
            <a:r>
              <a:rPr sz="1900" b="0">
                <a:solidFill>
                  <a:srgbClr val="000000"/>
                </a:solidFill>
                <a:latin typeface="Calibri"/>
              </a:rPr>
              <a:t> health misinformation spreads faster than verified facts; manual checking cannot scale.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Gap 1 - LLMs:</a:t>
            </a:r>
            <a:r>
              <a:rPr sz="1900" b="0">
                <a:solidFill>
                  <a:srgbClr val="000000"/>
                </a:solidFill>
                <a:latin typeface="Calibri"/>
              </a:rPr>
              <a:t> fluent but </a:t>
            </a:r>
            <a:r>
              <a:rPr sz="1900" b="1">
                <a:solidFill>
                  <a:srgbClr val="000000"/>
                </a:solidFill>
                <a:latin typeface="Calibri"/>
              </a:rPr>
              <a:t>hallucinate</a:t>
            </a:r>
            <a:r>
              <a:rPr sz="1900" b="0">
                <a:solidFill>
                  <a:srgbClr val="000000"/>
                </a:solidFill>
                <a:latin typeface="Calibri"/>
              </a:rPr>
              <a:t> and are frozen at a training date.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Gap 2 - knowledge graphs:</a:t>
            </a:r>
            <a:r>
              <a:rPr sz="1900" b="0">
                <a:solidFill>
                  <a:srgbClr val="000000"/>
                </a:solidFill>
                <a:latin typeface="Calibri"/>
              </a:rPr>
              <a:t> structured but </a:t>
            </a:r>
            <a:r>
              <a:rPr sz="1900" b="1">
                <a:solidFill>
                  <a:srgbClr val="000000"/>
                </a:solidFill>
                <a:latin typeface="Calibri"/>
              </a:rPr>
              <a:t>static and limited</a:t>
            </a:r>
            <a:r>
              <a:rPr sz="1900" b="0">
                <a:solidFill>
                  <a:srgbClr val="000000"/>
                </a:solidFill>
                <a:latin typeface="Calibri"/>
              </a:rPr>
              <a:t> in coverage.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Gap 3 - standard RAG:</a:t>
            </a:r>
            <a:r>
              <a:rPr sz="1900" b="0">
                <a:solidFill>
                  <a:srgbClr val="000000"/>
                </a:solidFill>
                <a:latin typeface="Calibri"/>
              </a:rPr>
              <a:t> retrieves </a:t>
            </a:r>
            <a:r>
              <a:rPr sz="1900" b="1">
                <a:solidFill>
                  <a:srgbClr val="000000"/>
                </a:solidFill>
                <a:latin typeface="Calibri"/>
              </a:rPr>
              <a:t>text passages</a:t>
            </a:r>
            <a:r>
              <a:rPr sz="1900" b="0">
                <a:solidFill>
                  <a:srgbClr val="000000"/>
                </a:solidFill>
                <a:latin typeface="Calibri"/>
              </a:rPr>
              <a:t>, not relational structure.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Gap 4 (the paper's):</a:t>
            </a:r>
            <a:r>
              <a:rPr sz="1900" b="0">
                <a:solidFill>
                  <a:srgbClr val="000000"/>
                </a:solidFill>
                <a:latin typeface="Calibri"/>
              </a:rPr>
              <a:t> no method combines an </a:t>
            </a:r>
            <a:r>
              <a:rPr sz="1900" b="1">
                <a:solidFill>
                  <a:srgbClr val="000000"/>
                </a:solidFill>
                <a:latin typeface="Calibri"/>
              </a:rPr>
              <a:t>updatable health KG</a:t>
            </a:r>
            <a:r>
              <a:rPr sz="1900" b="0">
                <a:solidFill>
                  <a:srgbClr val="000000"/>
                </a:solidFill>
                <a:latin typeface="Calibri"/>
              </a:rPr>
              <a:t> with LLM reasoning.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>•  </a:t>
            </a:r>
            <a:r>
              <a:rPr sz="1900" b="1">
                <a:solidFill>
                  <a:srgbClr val="000000"/>
                </a:solidFill>
                <a:latin typeface="Calibri"/>
              </a:rPr>
              <a:t>Future research:</a:t>
            </a:r>
            <a:r>
              <a:rPr sz="1900" b="0">
                <a:solidFill>
                  <a:srgbClr val="000000"/>
                </a:solidFill>
                <a:latin typeface="Calibri"/>
              </a:rPr>
              <a:t> live knowledge freshness, hallucination control, and reasoning over multi-step claims.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Datasets and 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430000" cy="2423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4206240"/>
                <a:gridCol w="5669280"/>
              </a:tblGrid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What it provides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Preprocessing applied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DBpedia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Structured health facts as RDF triples (English, post-Dec 2023)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Health-keyword filter (health, medical, disease, pandemic...); loaded as the reference base</a:t>
                      </a:r>
                    </a:p>
                  </a:txBody>
                  <a:tcPr marL="54864" marR="54864" marT="27432" marB="27432" anchor="ctr"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PolitiFact / LIAR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Fact-checked claims with 6-level ratings (12,836 rows)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Health-care filter (1,434); 6 ratings folded to binary; balanced 300/300 test (seed 42); 834 rows for baseline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480560"/>
            <a:ext cx="10698480" cy="2057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</a:t>
            </a:r>
            <a:r>
              <a:rPr sz="1500" b="1">
                <a:solidFill>
                  <a:srgbClr val="000000"/>
                </a:solidFill>
                <a:latin typeface="Calibri"/>
              </a:rPr>
              <a:t>Inconsistencies addressed:</a:t>
            </a:r>
            <a:r>
              <a:rPr sz="1500" b="0">
                <a:solidFill>
                  <a:srgbClr val="000000"/>
                </a:solidFill>
                <a:latin typeface="Calibri"/>
              </a:rPr>
              <a:t> label granularity (6 to 2), class imbalance (balanced sampling), and text noise (URLs and punctuation stripped).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</a:t>
            </a:r>
            <a:r>
              <a:rPr sz="1500" b="1">
                <a:solidFill>
                  <a:srgbClr val="000000"/>
                </a:solidFill>
                <a:latin typeface="Calibri"/>
              </a:rPr>
              <a:t>Feature justification:</a:t>
            </a:r>
            <a:r>
              <a:rPr sz="1500" b="0">
                <a:solidFill>
                  <a:srgbClr val="000000"/>
                </a:solidFill>
                <a:latin typeface="Calibri"/>
              </a:rPr>
              <a:t> sentence embedding + topic vector (0.7/0.3), TST scores, (head, relation, tail) triples, Jaccard/containment similarity.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Algorithmic Design and 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Pipeline:</a:t>
            </a:r>
            <a:r>
              <a:rPr sz="1800" b="0">
                <a:solidFill>
                  <a:srgbClr val="000000"/>
                </a:solidFill>
                <a:latin typeface="Calibri"/>
              </a:rPr>
              <a:t> sentence centrality (BERT+LDA) -&gt; Topic-Specific TextRank -&gt; knowledge-graph extraction -&gt; GraphRAG verification.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Retrieval-grounded judge:</a:t>
            </a:r>
            <a:r>
              <a:rPr sz="1800" b="0">
                <a:solidFill>
                  <a:srgbClr val="000000"/>
                </a:solidFill>
                <a:latin typeface="Calibri"/>
              </a:rPr>
              <a:t> a local LLM (</a:t>
            </a:r>
            <a:r>
              <a:rPr sz="1800" b="1">
                <a:solidFill>
                  <a:srgbClr val="000000"/>
                </a:solidFill>
                <a:latin typeface="Calibri"/>
              </a:rPr>
              <a:t>qwen2.5:7b</a:t>
            </a:r>
            <a:r>
              <a:rPr sz="1800" b="0">
                <a:solidFill>
                  <a:srgbClr val="000000"/>
                </a:solidFill>
                <a:latin typeface="Calibri"/>
              </a:rPr>
              <a:t> via Ollama) decides each verdict from retrieved evidence.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On-demand reference graph:</a:t>
            </a:r>
            <a:r>
              <a:rPr sz="1800" b="0">
                <a:solidFill>
                  <a:srgbClr val="000000"/>
                </a:solidFill>
                <a:latin typeface="Calibri"/>
              </a:rPr>
              <a:t> the graph a claim is matched against is built per claim from live evidence, so any health claim can match instead of only the 8 seed graphs.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Fixes for the paper's drawbacks:</a:t>
            </a:r>
            <a:r>
              <a:rPr sz="1800" b="0">
                <a:solidFill>
                  <a:srgbClr val="000000"/>
                </a:solidFill>
                <a:latin typeface="Calibri"/>
              </a:rPr>
              <a:t> limited/static KB -&gt; on-demand graph; hallucination -&gt; evidence-grounded judging; rule-extraction errors -&gt; LLM judging.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S = max(Jaccard, containment)</a:t>
            </a:r>
            <a:r>
              <a:rPr sz="1800" b="0">
                <a:solidFill>
                  <a:srgbClr val="000000"/>
                </a:solidFill>
                <a:latin typeface="Calibri"/>
              </a:rPr>
              <a:t> with a contradiction rule; v = [0.7*e ; 0.3*t], TST alpha = 1.5.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Results and State-of-the-Art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521440" cy="33558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1920"/>
                <a:gridCol w="1920240"/>
                <a:gridCol w="1920240"/>
                <a:gridCol w="1828800"/>
                <a:gridCol w="1920240"/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4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TrumorGPT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88.5%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91.4%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88.1%</a:t>
                      </a:r>
                    </a:p>
                  </a:txBody>
                  <a:tcPr marL="54864" marR="54864" marT="27432" marB="27432"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GPT-4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83.3%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85.7%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82.8%</a:t>
                      </a:r>
                    </a:p>
                  </a:txBody>
                  <a:tcPr marL="54864" marR="54864" marT="27432" marB="27432"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Gemini 1.5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81.7%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83.9%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78.3%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81.0%</a:t>
                      </a:r>
                    </a:p>
                  </a:txBody>
                  <a:tcPr marL="54864" marR="54864" marT="27432" marB="27432"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LLaMA 3.2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81.8%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83.0%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81.5%</a:t>
                      </a:r>
                    </a:p>
                  </a:txBody>
                  <a:tcPr marL="54864" marR="54864" marT="27432" marB="27432"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PaLM 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76.8%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77.9%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76.4%</a:t>
                      </a:r>
                    </a:p>
                  </a:txBody>
                  <a:tcPr marL="54864" marR="54864" marT="27432" marB="27432"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Claude 3.5 Sonnet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77.2%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78.4%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75.0%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76.7%</a:t>
                      </a:r>
                    </a:p>
                  </a:txBody>
                  <a:tcPr marL="54864" marR="54864" marT="27432" marB="27432" anchor="ctr"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GPT-3.5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72.7%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75.8%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66.7%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70.9%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8920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0">
                <a:solidFill>
                  <a:srgbClr val="000000"/>
                </a:solidFill>
                <a:latin typeface="Calibri"/>
              </a:rPr>
              <a:t>Results as reported in the base paper (600 PolitiFact claims, 300 true / 300 false); TrumorGPT leads every metric, about 5.2 points above GPT-4 on accuracy.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Published health fact-checking benchmarks:</a:t>
            </a:r>
            <a:r>
              <a:rPr sz="1300" b="0">
                <a:solidFill>
                  <a:srgbClr val="000000"/>
                </a:solidFill>
                <a:latin typeface="Calibri"/>
              </a:rPr>
              <a:t> SciFact about 70% (gold abstracts); PUBHEALTH SciBERT 69.7% acc; HealthVer claim-only 50.0%.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Our implementation:</a:t>
            </a:r>
            <a:r>
              <a:rPr sz="1300" b="0">
                <a:solidFill>
                  <a:srgbClr val="000000"/>
                </a:solidFill>
                <a:latin typeface="Calibri"/>
              </a:rPr>
              <a:t> 91.7% on the isolated verification component.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Implementation (Live)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3461153"/>
          </a:xfrm>
          <a:prstGeom prst="rect">
            <a:avLst/>
          </a:prstGeom>
        </p:spPr>
      </p:pic>
      <p:pic>
        <p:nvPicPr>
          <p:cNvPr id="5" name="Picture 4" descr="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554480"/>
            <a:ext cx="4206240" cy="21263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10927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1F1F"/>
                </a:solidFill>
                <a:latin typeface="Calibri"/>
              </a:defRPr>
            </a:pPr>
            <a:r>
              <a:t>Demo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98448"/>
            <a:ext cx="10927080" cy="1778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Runs locally</a:t>
            </a:r>
            <a:r>
              <a:rPr sz="1800" b="0">
                <a:solidFill>
                  <a:srgbClr val="000000"/>
                </a:solidFill>
                <a:latin typeface="Calibri"/>
              </a:rPr>
              <a:t> with qwen2.5:7b via Ollama, fully offline-capable; ~8 seconds per claim.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Try any claim:</a:t>
            </a:r>
            <a:r>
              <a:rPr sz="1800" b="0">
                <a:solidFill>
                  <a:srgbClr val="000000"/>
                </a:solidFill>
                <a:latin typeface="Calibri"/>
              </a:rPr>
              <a:t> e.g. "Drinking bleach cures COVID-19" -&gt; False; "The MMR vaccine is safe and effective" -&gt; True.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Usability:</a:t>
            </a:r>
            <a:r>
              <a:rPr sz="1800" b="0">
                <a:solidFill>
                  <a:srgbClr val="000000"/>
                </a:solidFill>
                <a:latin typeface="Calibri"/>
              </a:rPr>
              <a:t> press Enter to submit; each knowledge graph has a maximize/fullscreen button.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>
                <a:solidFill>
                  <a:srgbClr val="000000"/>
                </a:solidFill>
                <a:latin typeface="Calibri"/>
              </a:rPr>
              <a:t>•  </a:t>
            </a:r>
            <a:r>
              <a:rPr sz="1800" b="1">
                <a:solidFill>
                  <a:srgbClr val="000000"/>
                </a:solidFill>
                <a:latin typeface="Calibri"/>
              </a:rPr>
              <a:t>Future work:</a:t>
            </a:r>
            <a:r>
              <a:rPr sz="1800" b="0">
                <a:solidFill>
                  <a:srgbClr val="000000"/>
                </a:solidFill>
                <a:latin typeface="Calibri"/>
              </a:rPr>
              <a:t> ingest DBpedia health triples, add multi-step reasoning, calibrate the judge, and report confidence intervals on a larger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1530</Words>
  <Application>Microsoft Office PowerPoint</Application>
  <PresentationFormat>Widescreen</PresentationFormat>
  <Paragraphs>102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TrumorGPT: A Graph-Based Retrieval-Augmented LLM for Fact-Checking</vt:lpstr>
      <vt:lpstr>Selection of the Problem</vt:lpstr>
      <vt:lpstr>Understanding of the Problem</vt:lpstr>
      <vt:lpstr>Datasets Used</vt:lpstr>
      <vt:lpstr>Interpretation of the Solution on the Dataset</vt:lpstr>
      <vt:lpstr>TrumorGPT: A Graph-Based Retrieval-Augmented LLM for Fact-Checking</vt:lpstr>
      <vt:lpstr>Feature Selection</vt:lpstr>
      <vt:lpstr>Existing Algorithms - Literature Survey</vt:lpstr>
      <vt:lpstr>Learning Technique Identified</vt:lpstr>
      <vt:lpstr>Results of the Identified Technique</vt:lpstr>
      <vt:lpstr>Title</vt:lpstr>
      <vt:lpstr>Problem Identification and Literature Survey</vt:lpstr>
      <vt:lpstr>Datasets and Data Preprocessing</vt:lpstr>
      <vt:lpstr>Algorithmic Design and Fixes</vt:lpstr>
      <vt:lpstr>Results and State-of-the-Art Comparison</vt:lpstr>
      <vt:lpstr>Implementation (Live)</vt:lpstr>
      <vt:lpstr>Demo and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TrumorGPT: A Graph-Based Retrieval-Augmented LLM for Fact-Checking</dc:title>
  <dc:subject>Capstone Project - Lab Evaluations 1 and 2 + Review 3</dc:subject>
  <dc:creator>Akash KG</dc:creator>
  <cp:keywords/>
  <dc:description/>
  <cp:lastModifiedBy>Akash KG</cp:lastModifiedBy>
  <cp:revision>1</cp:revision>
  <dcterms:created xsi:type="dcterms:W3CDTF">2026-09-14T21:37:00Z</dcterms:created>
  <dcterms:modified xsi:type="dcterms:W3CDTF">2026-09-14T22:04:00Z</dcterms:modified>
  <cp:category/>
</cp:coreProperties>
</file>